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QND Pro Wide" charset="1" panose="00000500000000000000"/>
      <p:regular r:id="rId17"/>
    </p:embeddedFont>
    <p:embeddedFont>
      <p:font typeface="Fira Code" charset="1" panose="020B0809050000020004"/>
      <p:regular r:id="rId18"/>
    </p:embeddedFont>
    <p:embeddedFont>
      <p:font typeface="Fira Code Bold" charset="1" panose="020B080905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2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6.jpe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2" Target="../media/image17.jpeg" Type="http://schemas.openxmlformats.org/officeDocument/2006/relationships/image"/><Relationship Id="rId3" Target="../media/image18.jpe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9.jpeg" Type="http://schemas.openxmlformats.org/officeDocument/2006/relationships/image"/><Relationship Id="rId9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1.jpe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4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2" Target="../media/image26.jpeg" Type="http://schemas.openxmlformats.org/officeDocument/2006/relationships/image"/><Relationship Id="rId3" Target="../media/image27.jpe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41505" y="0"/>
            <a:ext cx="10046495" cy="10287000"/>
            <a:chOff x="0" y="0"/>
            <a:chExt cx="1339532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7466" t="0" r="17466" b="0"/>
            <a:stretch>
              <a:fillRect/>
            </a:stretch>
          </p:blipFill>
          <p:spPr>
            <a:xfrm flipH="false" flipV="false">
              <a:off x="0" y="0"/>
              <a:ext cx="13395327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8241505" y="-123524"/>
            <a:ext cx="7137679" cy="10534048"/>
            <a:chOff x="0" y="0"/>
            <a:chExt cx="1879883" cy="27743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79883" cy="2774399"/>
            </a:xfrm>
            <a:custGeom>
              <a:avLst/>
              <a:gdLst/>
              <a:ahLst/>
              <a:cxnLst/>
              <a:rect r="r" b="b" t="t" l="l"/>
              <a:pathLst>
                <a:path h="2774399" w="1879883">
                  <a:moveTo>
                    <a:pt x="0" y="0"/>
                  </a:moveTo>
                  <a:lnTo>
                    <a:pt x="1879883" y="0"/>
                  </a:lnTo>
                  <a:lnTo>
                    <a:pt x="1879883" y="2774399"/>
                  </a:lnTo>
                  <a:lnTo>
                    <a:pt x="0" y="2774399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68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79883" cy="2812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490398" y="-387228"/>
            <a:ext cx="12782882" cy="4520178"/>
            <a:chOff x="0" y="0"/>
            <a:chExt cx="9697574" cy="34291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97574" cy="3429176"/>
            </a:xfrm>
            <a:custGeom>
              <a:avLst/>
              <a:gdLst/>
              <a:ahLst/>
              <a:cxnLst/>
              <a:rect r="r" b="b" t="t" l="l"/>
              <a:pathLst>
                <a:path h="3429176" w="9697574">
                  <a:moveTo>
                    <a:pt x="9459449" y="0"/>
                  </a:moveTo>
                  <a:lnTo>
                    <a:pt x="9697574" y="238125"/>
                  </a:lnTo>
                  <a:lnTo>
                    <a:pt x="9697574" y="3191051"/>
                  </a:lnTo>
                  <a:lnTo>
                    <a:pt x="9459449" y="3429176"/>
                  </a:lnTo>
                  <a:lnTo>
                    <a:pt x="238125" y="3429176"/>
                  </a:lnTo>
                  <a:lnTo>
                    <a:pt x="0" y="3191051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9459449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63500" y="25400"/>
              <a:ext cx="9570574" cy="3340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3056235"/>
            <a:ext cx="1801883" cy="180188"/>
          </a:xfrm>
          <a:custGeom>
            <a:avLst/>
            <a:gdLst/>
            <a:ahLst/>
            <a:cxnLst/>
            <a:rect r="r" b="b" t="t" l="l"/>
            <a:pathLst>
              <a:path h="180188" w="1801883">
                <a:moveTo>
                  <a:pt x="0" y="0"/>
                </a:moveTo>
                <a:lnTo>
                  <a:pt x="1801883" y="0"/>
                </a:lnTo>
                <a:lnTo>
                  <a:pt x="1801883" y="180188"/>
                </a:lnTo>
                <a:lnTo>
                  <a:pt x="0" y="1801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083412" y="3106801"/>
            <a:ext cx="316219" cy="79055"/>
          </a:xfrm>
          <a:custGeom>
            <a:avLst/>
            <a:gdLst/>
            <a:ahLst/>
            <a:cxnLst/>
            <a:rect r="r" b="b" t="t" l="l"/>
            <a:pathLst>
              <a:path h="79055" w="316219">
                <a:moveTo>
                  <a:pt x="0" y="0"/>
                </a:moveTo>
                <a:lnTo>
                  <a:pt x="316219" y="0"/>
                </a:lnTo>
                <a:lnTo>
                  <a:pt x="316219" y="79055"/>
                </a:lnTo>
                <a:lnTo>
                  <a:pt x="0" y="790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403685" y="7328186"/>
            <a:ext cx="294776" cy="254579"/>
          </a:xfrm>
          <a:custGeom>
            <a:avLst/>
            <a:gdLst/>
            <a:ahLst/>
            <a:cxnLst/>
            <a:rect r="r" b="b" t="t" l="l"/>
            <a:pathLst>
              <a:path h="254579" w="294776">
                <a:moveTo>
                  <a:pt x="0" y="0"/>
                </a:moveTo>
                <a:lnTo>
                  <a:pt x="294776" y="0"/>
                </a:lnTo>
                <a:lnTo>
                  <a:pt x="294776" y="254579"/>
                </a:lnTo>
                <a:lnTo>
                  <a:pt x="0" y="2545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403685" y="8056557"/>
            <a:ext cx="4995945" cy="4707934"/>
            <a:chOff x="0" y="0"/>
            <a:chExt cx="3790111" cy="35716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90112" cy="3571615"/>
            </a:xfrm>
            <a:custGeom>
              <a:avLst/>
              <a:gdLst/>
              <a:ahLst/>
              <a:cxnLst/>
              <a:rect r="r" b="b" t="t" l="l"/>
              <a:pathLst>
                <a:path h="3571615" w="3790112">
                  <a:moveTo>
                    <a:pt x="3551987" y="0"/>
                  </a:moveTo>
                  <a:lnTo>
                    <a:pt x="3790112" y="238125"/>
                  </a:lnTo>
                  <a:lnTo>
                    <a:pt x="3790112" y="3333490"/>
                  </a:lnTo>
                  <a:lnTo>
                    <a:pt x="3551987" y="3571615"/>
                  </a:lnTo>
                  <a:lnTo>
                    <a:pt x="238125" y="3571615"/>
                  </a:lnTo>
                  <a:lnTo>
                    <a:pt x="0" y="3333490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551987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63500" y="25400"/>
              <a:ext cx="3663111" cy="348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273173" y="8621762"/>
            <a:ext cx="1452763" cy="628650"/>
          </a:xfrm>
          <a:custGeom>
            <a:avLst/>
            <a:gdLst/>
            <a:ahLst/>
            <a:cxnLst/>
            <a:rect r="r" b="b" t="t" l="l"/>
            <a:pathLst>
              <a:path h="628650" w="1452763">
                <a:moveTo>
                  <a:pt x="0" y="0"/>
                </a:moveTo>
                <a:lnTo>
                  <a:pt x="1452762" y="0"/>
                </a:lnTo>
                <a:lnTo>
                  <a:pt x="1452762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9073098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0" y="0"/>
                </a:moveTo>
                <a:lnTo>
                  <a:pt x="238551" y="0"/>
                </a:lnTo>
                <a:lnTo>
                  <a:pt x="238551" y="185202"/>
                </a:lnTo>
                <a:lnTo>
                  <a:pt x="0" y="1852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0">
            <a:off x="17020749" y="1028700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238551" y="185202"/>
                </a:moveTo>
                <a:lnTo>
                  <a:pt x="0" y="185202"/>
                </a:lnTo>
                <a:lnTo>
                  <a:pt x="0" y="0"/>
                </a:lnTo>
                <a:lnTo>
                  <a:pt x="238551" y="0"/>
                </a:lnTo>
                <a:lnTo>
                  <a:pt x="238551" y="185202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5400000">
            <a:off x="1016797" y="5046912"/>
            <a:ext cx="190441" cy="166636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 flipV="true">
            <a:off x="1028700" y="5685124"/>
            <a:ext cx="8370931" cy="0"/>
          </a:xfrm>
          <a:prstGeom prst="line">
            <a:avLst/>
          </a:prstGeom>
          <a:ln cap="flat" w="9525">
            <a:solidFill>
              <a:srgbClr val="C1FF72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028700" y="925181"/>
            <a:ext cx="9744584" cy="181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4"/>
              </a:lnSpc>
            </a:pPr>
            <a:r>
              <a:rPr lang="en-US" sz="9624">
                <a:solidFill>
                  <a:srgbClr val="C1FF72"/>
                </a:solidFill>
                <a:latin typeface="RQND Pro Wide"/>
                <a:ea typeface="RQND Pro Wide"/>
                <a:cs typeface="RQND Pro Wide"/>
                <a:sym typeface="RQND Pro Wide"/>
              </a:rPr>
              <a:t>AUTONOMUS VEHICLES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46825" y="7350701"/>
            <a:ext cx="180188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SALFORD &amp; CO.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88218" y="8621762"/>
            <a:ext cx="1898076" cy="62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HOW SELF-DRIVING CARS ARE CHANGING TRANSPORTATION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1840" y="4913532"/>
            <a:ext cx="8301911" cy="45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4400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THE FUTURE ON WHEELS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7591425" cy="8229600"/>
            <a:chOff x="0" y="0"/>
            <a:chExt cx="10121900" cy="109728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3887" r="0" b="13887"/>
            <a:stretch>
              <a:fillRect/>
            </a:stretch>
          </p:blipFill>
          <p:spPr>
            <a:xfrm flipH="false" flipV="false">
              <a:off x="0" y="0"/>
              <a:ext cx="10121900" cy="109728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1846986" y="4023333"/>
            <a:ext cx="5555899" cy="5234967"/>
            <a:chOff x="0" y="0"/>
            <a:chExt cx="4214914" cy="39714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14914" cy="3971442"/>
            </a:xfrm>
            <a:custGeom>
              <a:avLst/>
              <a:gdLst/>
              <a:ahLst/>
              <a:cxnLst/>
              <a:rect r="r" b="b" t="t" l="l"/>
              <a:pathLst>
                <a:path h="3971442" w="4214914">
                  <a:moveTo>
                    <a:pt x="3976789" y="0"/>
                  </a:moveTo>
                  <a:lnTo>
                    <a:pt x="4214914" y="238125"/>
                  </a:lnTo>
                  <a:lnTo>
                    <a:pt x="4214914" y="3733317"/>
                  </a:lnTo>
                  <a:lnTo>
                    <a:pt x="3976789" y="3971442"/>
                  </a:lnTo>
                  <a:lnTo>
                    <a:pt x="238125" y="3971442"/>
                  </a:lnTo>
                  <a:lnTo>
                    <a:pt x="0" y="3733317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976789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63500" y="25400"/>
              <a:ext cx="4087914" cy="3882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540354" y="4862723"/>
            <a:ext cx="4169162" cy="82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4400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REDEFINING ROAD TRAVEL</a:t>
            </a:r>
          </a:p>
        </p:txBody>
      </p:sp>
      <p:grpSp>
        <p:nvGrpSpPr>
          <p:cNvPr name="Group 8" id="8"/>
          <p:cNvGrpSpPr/>
          <p:nvPr/>
        </p:nvGrpSpPr>
        <p:grpSpPr>
          <a:xfrm rot="-10800000">
            <a:off x="4620003" y="936304"/>
            <a:ext cx="4009647" cy="8414391"/>
            <a:chOff x="0" y="0"/>
            <a:chExt cx="1056039" cy="2216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039" cy="2216136"/>
            </a:xfrm>
            <a:custGeom>
              <a:avLst/>
              <a:gdLst/>
              <a:ahLst/>
              <a:cxnLst/>
              <a:rect r="r" b="b" t="t" l="l"/>
              <a:pathLst>
                <a:path h="2216136" w="1056039">
                  <a:moveTo>
                    <a:pt x="0" y="0"/>
                  </a:moveTo>
                  <a:lnTo>
                    <a:pt x="1056039" y="0"/>
                  </a:lnTo>
                  <a:lnTo>
                    <a:pt x="1056039" y="2216136"/>
                  </a:lnTo>
                  <a:lnTo>
                    <a:pt x="0" y="221613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68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56039" cy="2254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2540354" y="6005172"/>
            <a:ext cx="4169162" cy="0"/>
          </a:xfrm>
          <a:prstGeom prst="line">
            <a:avLst/>
          </a:prstGeom>
          <a:ln cap="flat" w="9525">
            <a:solidFill>
              <a:srgbClr val="C1FF72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9671876" y="8629650"/>
            <a:ext cx="1452763" cy="628650"/>
          </a:xfrm>
          <a:custGeom>
            <a:avLst/>
            <a:gdLst/>
            <a:ahLst/>
            <a:cxnLst/>
            <a:rect r="r" b="b" t="t" l="l"/>
            <a:pathLst>
              <a:path h="628650" w="1452763">
                <a:moveTo>
                  <a:pt x="0" y="0"/>
                </a:moveTo>
                <a:lnTo>
                  <a:pt x="1452763" y="0"/>
                </a:lnTo>
                <a:lnTo>
                  <a:pt x="1452763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5400000">
            <a:off x="16530978" y="4665075"/>
            <a:ext cx="190441" cy="166636"/>
            <a:chOff x="0" y="0"/>
            <a:chExt cx="812800" cy="711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51177" y="8787995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0" y="0"/>
                </a:moveTo>
                <a:lnTo>
                  <a:pt x="238552" y="0"/>
                </a:lnTo>
                <a:lnTo>
                  <a:pt x="238552" y="185202"/>
                </a:lnTo>
                <a:lnTo>
                  <a:pt x="0" y="185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1351177" y="1313803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0" y="185202"/>
                </a:moveTo>
                <a:lnTo>
                  <a:pt x="238552" y="185202"/>
                </a:lnTo>
                <a:lnTo>
                  <a:pt x="238552" y="0"/>
                </a:lnTo>
                <a:lnTo>
                  <a:pt x="0" y="0"/>
                </a:lnTo>
                <a:lnTo>
                  <a:pt x="0" y="18520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540354" y="4653173"/>
            <a:ext cx="316219" cy="79055"/>
          </a:xfrm>
          <a:custGeom>
            <a:avLst/>
            <a:gdLst/>
            <a:ahLst/>
            <a:cxnLst/>
            <a:rect r="r" b="b" t="t" l="l"/>
            <a:pathLst>
              <a:path h="79055" w="316219">
                <a:moveTo>
                  <a:pt x="0" y="0"/>
                </a:moveTo>
                <a:lnTo>
                  <a:pt x="316219" y="0"/>
                </a:lnTo>
                <a:lnTo>
                  <a:pt x="316219" y="79054"/>
                </a:lnTo>
                <a:lnTo>
                  <a:pt x="0" y="79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671876" y="7856600"/>
            <a:ext cx="294776" cy="254579"/>
          </a:xfrm>
          <a:custGeom>
            <a:avLst/>
            <a:gdLst/>
            <a:ahLst/>
            <a:cxnLst/>
            <a:rect r="r" b="b" t="t" l="l"/>
            <a:pathLst>
              <a:path h="254579" w="294776">
                <a:moveTo>
                  <a:pt x="0" y="0"/>
                </a:moveTo>
                <a:lnTo>
                  <a:pt x="294776" y="0"/>
                </a:lnTo>
                <a:lnTo>
                  <a:pt x="294776" y="254579"/>
                </a:lnTo>
                <a:lnTo>
                  <a:pt x="0" y="2545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671876" y="729571"/>
            <a:ext cx="8178456" cy="262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11461">
                <a:solidFill>
                  <a:srgbClr val="C1FF72"/>
                </a:solidFill>
                <a:latin typeface="RQND Pro Wide"/>
                <a:ea typeface="RQND Pro Wide"/>
                <a:cs typeface="RQND Pro Wide"/>
                <a:sym typeface="RQND Pro Wide"/>
              </a:rPr>
              <a:t>SMART MOBILITY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40354" y="6323774"/>
            <a:ext cx="4169162" cy="230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Autonomous vehicles are redefining how we navigate daily life. With advanced sensors, real-time data processing, and AI, they offer a safer and more efficient alternative to traditional driving. These vehicles can adapt to dynamic traffic environments, reduce human error, and optimize road usage, marking a transformative shift in how cities move and people connect through smart mobility solutions.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15017" y="7879115"/>
            <a:ext cx="180188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SALFORD &amp; CO.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07250" y="1038225"/>
            <a:ext cx="9621192" cy="6907603"/>
            <a:chOff x="0" y="0"/>
            <a:chExt cx="12828256" cy="9210137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529" t="0" r="3529" b="0"/>
            <a:stretch>
              <a:fillRect/>
            </a:stretch>
          </p:blipFill>
          <p:spPr>
            <a:xfrm flipH="false" flipV="false">
              <a:off x="0" y="0"/>
              <a:ext cx="12828256" cy="9210137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-5400000">
            <a:off x="10829502" y="1387269"/>
            <a:ext cx="3351882" cy="9784286"/>
            <a:chOff x="0" y="0"/>
            <a:chExt cx="882800" cy="25769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2800" cy="2576931"/>
            </a:xfrm>
            <a:custGeom>
              <a:avLst/>
              <a:gdLst/>
              <a:ahLst/>
              <a:cxnLst/>
              <a:rect r="r" b="b" t="t" l="l"/>
              <a:pathLst>
                <a:path h="2576931" w="882800">
                  <a:moveTo>
                    <a:pt x="0" y="0"/>
                  </a:moveTo>
                  <a:lnTo>
                    <a:pt x="882800" y="0"/>
                  </a:lnTo>
                  <a:lnTo>
                    <a:pt x="882800" y="2576931"/>
                  </a:lnTo>
                  <a:lnTo>
                    <a:pt x="0" y="2576931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68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82800" cy="2615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7164248"/>
            <a:ext cx="5649850" cy="2094052"/>
            <a:chOff x="0" y="0"/>
            <a:chExt cx="4286188" cy="15886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86188" cy="1588626"/>
            </a:xfrm>
            <a:custGeom>
              <a:avLst/>
              <a:gdLst/>
              <a:ahLst/>
              <a:cxnLst/>
              <a:rect r="r" b="b" t="t" l="l"/>
              <a:pathLst>
                <a:path h="1588626" w="4286188">
                  <a:moveTo>
                    <a:pt x="4048063" y="0"/>
                  </a:moveTo>
                  <a:lnTo>
                    <a:pt x="4286188" y="238125"/>
                  </a:lnTo>
                  <a:lnTo>
                    <a:pt x="4286188" y="1350501"/>
                  </a:lnTo>
                  <a:lnTo>
                    <a:pt x="4048063" y="1588626"/>
                  </a:lnTo>
                  <a:lnTo>
                    <a:pt x="238125" y="1588626"/>
                  </a:lnTo>
                  <a:lnTo>
                    <a:pt x="0" y="1350501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048063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63500" y="25400"/>
              <a:ext cx="4159188" cy="1499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4603471"/>
            <a:ext cx="5649850" cy="2094052"/>
            <a:chOff x="0" y="0"/>
            <a:chExt cx="4286188" cy="15886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86188" cy="1588626"/>
            </a:xfrm>
            <a:custGeom>
              <a:avLst/>
              <a:gdLst/>
              <a:ahLst/>
              <a:cxnLst/>
              <a:rect r="r" b="b" t="t" l="l"/>
              <a:pathLst>
                <a:path h="1588626" w="4286188">
                  <a:moveTo>
                    <a:pt x="4048063" y="0"/>
                  </a:moveTo>
                  <a:lnTo>
                    <a:pt x="4286188" y="238125"/>
                  </a:lnTo>
                  <a:lnTo>
                    <a:pt x="4286188" y="1350501"/>
                  </a:lnTo>
                  <a:lnTo>
                    <a:pt x="4048063" y="1588626"/>
                  </a:lnTo>
                  <a:lnTo>
                    <a:pt x="238125" y="1588626"/>
                  </a:lnTo>
                  <a:lnTo>
                    <a:pt x="0" y="1350501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048063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63500" y="25400"/>
              <a:ext cx="4159188" cy="1499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3041371"/>
            <a:ext cx="1452763" cy="628650"/>
          </a:xfrm>
          <a:custGeom>
            <a:avLst/>
            <a:gdLst/>
            <a:ahLst/>
            <a:cxnLst/>
            <a:rect r="r" b="b" t="t" l="l"/>
            <a:pathLst>
              <a:path h="628650" w="1452763">
                <a:moveTo>
                  <a:pt x="0" y="0"/>
                </a:moveTo>
                <a:lnTo>
                  <a:pt x="1452763" y="0"/>
                </a:lnTo>
                <a:lnTo>
                  <a:pt x="1452763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flipV="true">
            <a:off x="1028696" y="1033462"/>
            <a:ext cx="5555899" cy="4763"/>
          </a:xfrm>
          <a:prstGeom prst="line">
            <a:avLst/>
          </a:prstGeom>
          <a:ln cap="flat" w="9525">
            <a:solidFill>
              <a:srgbClr val="C1FF72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7707250" y="7524006"/>
            <a:ext cx="10075536" cy="2008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2"/>
              </a:lnSpc>
            </a:pPr>
            <a:r>
              <a:rPr lang="en-US" sz="10592">
                <a:solidFill>
                  <a:srgbClr val="C1FF72"/>
                </a:solidFill>
                <a:latin typeface="RQND Pro Wide"/>
                <a:ea typeface="RQND Pro Wide"/>
                <a:cs typeface="RQND Pro Wide"/>
                <a:sym typeface="RQND Pro Wide"/>
              </a:rPr>
              <a:t>CORE TECHNOLOGY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774570"/>
            <a:ext cx="5649850" cy="82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4400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THE BRAINS BEHIND THE WHEEL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7510" y="5068351"/>
            <a:ext cx="4732230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SENSOR INTEGRATION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7510" y="5394576"/>
            <a:ext cx="4732230" cy="83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Lidar, radar, and cameras work together to scan road conditions and detect nearby vehicles, obstacles, pedestrians, and road signs in real time.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7510" y="7629128"/>
            <a:ext cx="4732230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AI ALGORITHMS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87510" y="7955353"/>
            <a:ext cx="4732230" cy="83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Autonomous systems use deep learning models to predict traffic behavior, interpret surroundings, and make safe, dynamic driving decisions without human input.</a:t>
            </a:r>
          </a:p>
        </p:txBody>
      </p:sp>
      <p:grpSp>
        <p:nvGrpSpPr>
          <p:cNvPr name="Group 21" id="21"/>
          <p:cNvGrpSpPr/>
          <p:nvPr/>
        </p:nvGrpSpPr>
        <p:grpSpPr>
          <a:xfrm rot="5400000">
            <a:off x="6500012" y="3491483"/>
            <a:ext cx="190441" cy="166636"/>
            <a:chOff x="0" y="0"/>
            <a:chExt cx="812800" cy="711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true" flipV="true" rot="0">
            <a:off x="17020749" y="7629128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238551" y="185202"/>
                </a:moveTo>
                <a:lnTo>
                  <a:pt x="0" y="185202"/>
                </a:lnTo>
                <a:lnTo>
                  <a:pt x="0" y="0"/>
                </a:lnTo>
                <a:lnTo>
                  <a:pt x="238551" y="0"/>
                </a:lnTo>
                <a:lnTo>
                  <a:pt x="238551" y="18520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775726" y="7629128"/>
            <a:ext cx="294776" cy="254579"/>
          </a:xfrm>
          <a:custGeom>
            <a:avLst/>
            <a:gdLst/>
            <a:ahLst/>
            <a:cxnLst/>
            <a:rect r="r" b="b" t="t" l="l"/>
            <a:pathLst>
              <a:path h="254579" w="294776">
                <a:moveTo>
                  <a:pt x="0" y="0"/>
                </a:moveTo>
                <a:lnTo>
                  <a:pt x="294776" y="0"/>
                </a:lnTo>
                <a:lnTo>
                  <a:pt x="294776" y="254579"/>
                </a:lnTo>
                <a:lnTo>
                  <a:pt x="0" y="2545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218866" y="7651642"/>
            <a:ext cx="180188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SALFORD &amp; CO.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181646"/>
            <a:ext cx="8603130" cy="237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90"/>
              </a:lnSpc>
            </a:pPr>
            <a:r>
              <a:rPr lang="en-US" sz="10711">
                <a:solidFill>
                  <a:srgbClr val="C1FF72"/>
                </a:solidFill>
                <a:latin typeface="RQND Pro Wide"/>
                <a:ea typeface="RQND Pro Wide"/>
                <a:cs typeface="RQND Pro Wide"/>
                <a:sym typeface="RQND Pro Wide"/>
              </a:rPr>
              <a:t>SAFETY BENEFITS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48722" y="1455903"/>
            <a:ext cx="6510578" cy="3445643"/>
            <a:chOff x="0" y="0"/>
            <a:chExt cx="4939169" cy="26139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9169" cy="2613994"/>
            </a:xfrm>
            <a:custGeom>
              <a:avLst/>
              <a:gdLst/>
              <a:ahLst/>
              <a:cxnLst/>
              <a:rect r="r" b="b" t="t" l="l"/>
              <a:pathLst>
                <a:path h="2613994" w="4939169">
                  <a:moveTo>
                    <a:pt x="4701044" y="0"/>
                  </a:moveTo>
                  <a:lnTo>
                    <a:pt x="4939169" y="238125"/>
                  </a:lnTo>
                  <a:lnTo>
                    <a:pt x="4939169" y="2375869"/>
                  </a:lnTo>
                  <a:lnTo>
                    <a:pt x="4701044" y="2613994"/>
                  </a:lnTo>
                  <a:lnTo>
                    <a:pt x="238125" y="2613994"/>
                  </a:lnTo>
                  <a:lnTo>
                    <a:pt x="0" y="2375869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701044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63500" y="25400"/>
              <a:ext cx="4812169" cy="2525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25830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D88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70933" cy="270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387874" y="2110517"/>
            <a:ext cx="2008521" cy="2136415"/>
            <a:chOff x="0" y="0"/>
            <a:chExt cx="2678028" cy="2848553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2"/>
            <a:srcRect l="18681" t="0" r="18681" b="0"/>
            <a:stretch>
              <a:fillRect/>
            </a:stretch>
          </p:blipFill>
          <p:spPr>
            <a:xfrm flipH="false" flipV="false">
              <a:off x="0" y="0"/>
              <a:ext cx="2678028" cy="2848553"/>
            </a:xfrm>
            <a:prstGeom prst="rect">
              <a:avLst/>
            </a:prstGeom>
          </p:spPr>
        </p:pic>
      </p:grpSp>
      <p:grpSp>
        <p:nvGrpSpPr>
          <p:cNvPr name="Group 11" id="11"/>
          <p:cNvGrpSpPr/>
          <p:nvPr/>
        </p:nvGrpSpPr>
        <p:grpSpPr>
          <a:xfrm rot="0">
            <a:off x="10748722" y="5812657"/>
            <a:ext cx="6510578" cy="3445643"/>
            <a:chOff x="0" y="0"/>
            <a:chExt cx="4939169" cy="26139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39169" cy="2613994"/>
            </a:xfrm>
            <a:custGeom>
              <a:avLst/>
              <a:gdLst/>
              <a:ahLst/>
              <a:cxnLst/>
              <a:rect r="r" b="b" t="t" l="l"/>
              <a:pathLst>
                <a:path h="2613994" w="4939169">
                  <a:moveTo>
                    <a:pt x="4701044" y="0"/>
                  </a:moveTo>
                  <a:lnTo>
                    <a:pt x="4939169" y="238125"/>
                  </a:lnTo>
                  <a:lnTo>
                    <a:pt x="4939169" y="2375869"/>
                  </a:lnTo>
                  <a:lnTo>
                    <a:pt x="4701044" y="2613994"/>
                  </a:lnTo>
                  <a:lnTo>
                    <a:pt x="238125" y="2613994"/>
                  </a:lnTo>
                  <a:lnTo>
                    <a:pt x="0" y="2375869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701044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63500" y="25400"/>
              <a:ext cx="4812169" cy="2525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87874" y="6467271"/>
            <a:ext cx="2008521" cy="2136415"/>
            <a:chOff x="0" y="0"/>
            <a:chExt cx="2678028" cy="2848553"/>
          </a:xfrm>
        </p:grpSpPr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3"/>
            <a:srcRect l="7734" t="37658" r="4430" b="0"/>
            <a:stretch>
              <a:fillRect/>
            </a:stretch>
          </p:blipFill>
          <p:spPr>
            <a:xfrm flipH="false" flipV="false">
              <a:off x="0" y="0"/>
              <a:ext cx="2678028" cy="2848553"/>
            </a:xfrm>
            <a:prstGeom prst="rect">
              <a:avLst/>
            </a:prstGeom>
          </p:spPr>
        </p:pic>
      </p:grpSp>
      <p:grpSp>
        <p:nvGrpSpPr>
          <p:cNvPr name="Group 16" id="16"/>
          <p:cNvGrpSpPr/>
          <p:nvPr/>
        </p:nvGrpSpPr>
        <p:grpSpPr>
          <a:xfrm rot="0">
            <a:off x="3359803" y="3420678"/>
            <a:ext cx="6510578" cy="3445643"/>
            <a:chOff x="0" y="0"/>
            <a:chExt cx="4939169" cy="26139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39169" cy="2613994"/>
            </a:xfrm>
            <a:custGeom>
              <a:avLst/>
              <a:gdLst/>
              <a:ahLst/>
              <a:cxnLst/>
              <a:rect r="r" b="b" t="t" l="l"/>
              <a:pathLst>
                <a:path h="2613994" w="4939169">
                  <a:moveTo>
                    <a:pt x="4701044" y="0"/>
                  </a:moveTo>
                  <a:lnTo>
                    <a:pt x="4939169" y="238125"/>
                  </a:lnTo>
                  <a:lnTo>
                    <a:pt x="4939169" y="2375869"/>
                  </a:lnTo>
                  <a:lnTo>
                    <a:pt x="4701044" y="2613994"/>
                  </a:lnTo>
                  <a:lnTo>
                    <a:pt x="238125" y="2613994"/>
                  </a:lnTo>
                  <a:lnTo>
                    <a:pt x="0" y="2375869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701044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63500" y="25400"/>
              <a:ext cx="4812169" cy="2525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998956" y="4075293"/>
            <a:ext cx="2008521" cy="2136415"/>
            <a:chOff x="0" y="0"/>
            <a:chExt cx="2678028" cy="2848553"/>
          </a:xfrm>
        </p:grpSpPr>
        <p:pic>
          <p:nvPicPr>
            <p:cNvPr name="Picture 20" id="20"/>
            <p:cNvPicPr>
              <a:picLocks noChangeAspect="true"/>
            </p:cNvPicPr>
            <p:nvPr/>
          </p:nvPicPr>
          <p:blipFill>
            <a:blip r:embed="rId4"/>
            <a:srcRect l="0" t="20084" r="0" b="20084"/>
            <a:stretch>
              <a:fillRect/>
            </a:stretch>
          </p:blipFill>
          <p:spPr>
            <a:xfrm flipH="false" flipV="false">
              <a:off x="0" y="0"/>
              <a:ext cx="2678028" cy="2848553"/>
            </a:xfrm>
            <a:prstGeom prst="rect">
              <a:avLst/>
            </a:prstGeom>
          </p:spPr>
        </p:pic>
      </p:grpSp>
      <p:sp>
        <p:nvSpPr>
          <p:cNvPr name="Freeform 21" id="21"/>
          <p:cNvSpPr/>
          <p:nvPr/>
        </p:nvSpPr>
        <p:spPr>
          <a:xfrm flipH="false" flipV="true" rot="0">
            <a:off x="1028700" y="6237672"/>
            <a:ext cx="1452763" cy="628650"/>
          </a:xfrm>
          <a:custGeom>
            <a:avLst/>
            <a:gdLst/>
            <a:ahLst/>
            <a:cxnLst/>
            <a:rect r="r" b="b" t="t" l="l"/>
            <a:pathLst>
              <a:path h="628650" w="1452763">
                <a:moveTo>
                  <a:pt x="0" y="628650"/>
                </a:moveTo>
                <a:lnTo>
                  <a:pt x="1452763" y="628650"/>
                </a:lnTo>
                <a:lnTo>
                  <a:pt x="1452763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2" id="22"/>
          <p:cNvSpPr/>
          <p:nvPr/>
        </p:nvSpPr>
        <p:spPr>
          <a:xfrm>
            <a:off x="3359807" y="1198531"/>
            <a:ext cx="6510574" cy="0"/>
          </a:xfrm>
          <a:prstGeom prst="line">
            <a:avLst/>
          </a:prstGeom>
          <a:ln cap="flat" w="9525">
            <a:solidFill>
              <a:srgbClr val="C1FF72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5400000">
            <a:off x="10736819" y="5290322"/>
            <a:ext cx="190441" cy="166636"/>
            <a:chOff x="0" y="0"/>
            <a:chExt cx="812800" cy="71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true" rot="0">
            <a:off x="1028700" y="1028700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0" y="185202"/>
                </a:moveTo>
                <a:lnTo>
                  <a:pt x="238551" y="185202"/>
                </a:lnTo>
                <a:lnTo>
                  <a:pt x="238551" y="0"/>
                </a:lnTo>
                <a:lnTo>
                  <a:pt x="0" y="0"/>
                </a:lnTo>
                <a:lnTo>
                  <a:pt x="0" y="18520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359807" y="2128918"/>
            <a:ext cx="6510578" cy="82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4400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REDUCING HUMAN ERROR</a:t>
            </a:r>
          </a:p>
        </p:txBody>
      </p:sp>
      <p:sp>
        <p:nvSpPr>
          <p:cNvPr name="Freeform 28" id="28"/>
          <p:cNvSpPr/>
          <p:nvPr/>
        </p:nvSpPr>
        <p:spPr>
          <a:xfrm flipH="true" flipV="false" rot="0">
            <a:off x="9631830" y="9073098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238551" y="0"/>
                </a:moveTo>
                <a:lnTo>
                  <a:pt x="0" y="0"/>
                </a:lnTo>
                <a:lnTo>
                  <a:pt x="0" y="185202"/>
                </a:lnTo>
                <a:lnTo>
                  <a:pt x="238551" y="185202"/>
                </a:lnTo>
                <a:lnTo>
                  <a:pt x="23855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359803" y="1687304"/>
            <a:ext cx="294776" cy="254579"/>
          </a:xfrm>
          <a:custGeom>
            <a:avLst/>
            <a:gdLst/>
            <a:ahLst/>
            <a:cxnLst/>
            <a:rect r="r" b="b" t="t" l="l"/>
            <a:pathLst>
              <a:path h="254579" w="294776">
                <a:moveTo>
                  <a:pt x="0" y="0"/>
                </a:moveTo>
                <a:lnTo>
                  <a:pt x="294776" y="0"/>
                </a:lnTo>
                <a:lnTo>
                  <a:pt x="294776" y="254579"/>
                </a:lnTo>
                <a:lnTo>
                  <a:pt x="0" y="2545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976610" y="2110517"/>
            <a:ext cx="2643537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CRASH REDUCTION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76610" y="2570797"/>
            <a:ext cx="2643537" cy="167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By eliminating distractions, fatigue, and impaired driving, autonomous cars can significantly lower accident rates and reduce injuries on busy roadways.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976610" y="6467271"/>
            <a:ext cx="2643537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PREDICTABLE BEHAVIOR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976610" y="6927550"/>
            <a:ext cx="2643537" cy="167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Autonomous vehicles consistently follow traffic rules and patterns, creating a more predictable and organized driving environment for all road users.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87692" y="4075293"/>
            <a:ext cx="2643537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RAPID RESPONSE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87692" y="4535572"/>
            <a:ext cx="2643537" cy="167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Computerized driving systems react instantly to sudden changes or dangers, enhancing road safety and avoiding accidents through continuous situational awareness.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802943" y="1709818"/>
            <a:ext cx="180188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SALFORD &amp; CO.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981116"/>
            <a:ext cx="7458445" cy="6277184"/>
            <a:chOff x="0" y="0"/>
            <a:chExt cx="5658256" cy="47621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58256" cy="4762107"/>
            </a:xfrm>
            <a:custGeom>
              <a:avLst/>
              <a:gdLst/>
              <a:ahLst/>
              <a:cxnLst/>
              <a:rect r="r" b="b" t="t" l="l"/>
              <a:pathLst>
                <a:path h="4762107" w="5658256">
                  <a:moveTo>
                    <a:pt x="5420131" y="0"/>
                  </a:moveTo>
                  <a:lnTo>
                    <a:pt x="5658256" y="238125"/>
                  </a:lnTo>
                  <a:lnTo>
                    <a:pt x="5658256" y="4523982"/>
                  </a:lnTo>
                  <a:lnTo>
                    <a:pt x="5420131" y="4762107"/>
                  </a:lnTo>
                  <a:lnTo>
                    <a:pt x="238125" y="4762107"/>
                  </a:lnTo>
                  <a:lnTo>
                    <a:pt x="0" y="452398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420131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25400"/>
              <a:ext cx="5531256" cy="4673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1451026" y="3429653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0" y="185202"/>
                </a:moveTo>
                <a:lnTo>
                  <a:pt x="238551" y="185202"/>
                </a:lnTo>
                <a:lnTo>
                  <a:pt x="238551" y="0"/>
                </a:lnTo>
                <a:lnTo>
                  <a:pt x="0" y="0"/>
                </a:lnTo>
                <a:lnTo>
                  <a:pt x="0" y="1852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7826267" y="3429653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238551" y="185202"/>
                </a:moveTo>
                <a:lnTo>
                  <a:pt x="0" y="185202"/>
                </a:lnTo>
                <a:lnTo>
                  <a:pt x="0" y="0"/>
                </a:lnTo>
                <a:lnTo>
                  <a:pt x="238551" y="0"/>
                </a:lnTo>
                <a:lnTo>
                  <a:pt x="238551" y="1852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1026" y="8624561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0" y="0"/>
                </a:moveTo>
                <a:lnTo>
                  <a:pt x="238551" y="0"/>
                </a:lnTo>
                <a:lnTo>
                  <a:pt x="238551" y="185202"/>
                </a:lnTo>
                <a:lnTo>
                  <a:pt x="0" y="18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7826267" y="8624561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238551" y="0"/>
                </a:moveTo>
                <a:lnTo>
                  <a:pt x="0" y="0"/>
                </a:lnTo>
                <a:lnTo>
                  <a:pt x="0" y="185202"/>
                </a:lnTo>
                <a:lnTo>
                  <a:pt x="238551" y="185202"/>
                </a:lnTo>
                <a:lnTo>
                  <a:pt x="23855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462462" y="2981116"/>
            <a:ext cx="7796838" cy="6277184"/>
            <a:chOff x="0" y="0"/>
            <a:chExt cx="10395784" cy="8369579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4"/>
            <a:srcRect l="8545" t="0" r="8545" b="0"/>
            <a:stretch>
              <a:fillRect/>
            </a:stretch>
          </p:blipFill>
          <p:spPr>
            <a:xfrm flipH="false" flipV="false">
              <a:off x="0" y="0"/>
              <a:ext cx="10395784" cy="8369579"/>
            </a:xfrm>
            <a:prstGeom prst="rect">
              <a:avLst/>
            </a:prstGeom>
          </p:spPr>
        </p:pic>
      </p:grpSp>
      <p:grpSp>
        <p:nvGrpSpPr>
          <p:cNvPr name="Group 11" id="11"/>
          <p:cNvGrpSpPr/>
          <p:nvPr/>
        </p:nvGrpSpPr>
        <p:grpSpPr>
          <a:xfrm rot="5400000">
            <a:off x="12018502" y="273087"/>
            <a:ext cx="2684757" cy="8081766"/>
            <a:chOff x="0" y="0"/>
            <a:chExt cx="707097" cy="21285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7097" cy="2128531"/>
            </a:xfrm>
            <a:custGeom>
              <a:avLst/>
              <a:gdLst/>
              <a:ahLst/>
              <a:cxnLst/>
              <a:rect r="r" b="b" t="t" l="l"/>
              <a:pathLst>
                <a:path h="2128531" w="707097">
                  <a:moveTo>
                    <a:pt x="0" y="0"/>
                  </a:moveTo>
                  <a:lnTo>
                    <a:pt x="707097" y="0"/>
                  </a:lnTo>
                  <a:lnTo>
                    <a:pt x="707097" y="2128531"/>
                  </a:lnTo>
                  <a:lnTo>
                    <a:pt x="0" y="2128531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68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07097" cy="2166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13265661" y="2983494"/>
            <a:ext cx="190441" cy="166636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848121" y="3429653"/>
            <a:ext cx="294776" cy="254579"/>
          </a:xfrm>
          <a:custGeom>
            <a:avLst/>
            <a:gdLst/>
            <a:ahLst/>
            <a:cxnLst/>
            <a:rect r="r" b="b" t="t" l="l"/>
            <a:pathLst>
              <a:path h="254579" w="294776">
                <a:moveTo>
                  <a:pt x="0" y="0"/>
                </a:moveTo>
                <a:lnTo>
                  <a:pt x="294776" y="0"/>
                </a:lnTo>
                <a:lnTo>
                  <a:pt x="294776" y="254579"/>
                </a:lnTo>
                <a:lnTo>
                  <a:pt x="0" y="2545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852664"/>
            <a:ext cx="16766456" cy="162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05"/>
              </a:lnSpc>
            </a:pPr>
            <a:r>
              <a:rPr lang="en-US" sz="15743">
                <a:solidFill>
                  <a:srgbClr val="C1FF72"/>
                </a:solidFill>
                <a:latin typeface="RQND Pro Wide"/>
                <a:ea typeface="RQND Pro Wide"/>
                <a:cs typeface="RQND Pro Wide"/>
                <a:sym typeface="RQND Pro Wide"/>
              </a:rPr>
              <a:t>URBAN IMPACT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10757" y="4278415"/>
            <a:ext cx="6576387" cy="45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4400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CHANGING CITY LIFE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10757" y="5237314"/>
            <a:ext cx="2433202" cy="293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Self-driving vehicles can reduce congestion by improving traffic flow and minimizing accidents. They may also lower emissions and reduce the number of personal vehicles on the road, encouraging ride-sharing and eco-conscious transportation habits in urban areas.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1885" y="5656348"/>
            <a:ext cx="2433202" cy="251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Cities might evolve with fewer parking lots, broader pedestrian zones, and greener infrastructure. Autonomous transport may reshape city planning, creating more space for parks, housing, and public services.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91261" y="3452167"/>
            <a:ext cx="180188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SALFORD &amp; CO.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357251"/>
            <a:ext cx="4678996" cy="4282851"/>
            <a:chOff x="0" y="0"/>
            <a:chExt cx="6238662" cy="5710468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3537" t="0" r="13537" b="0"/>
            <a:stretch>
              <a:fillRect/>
            </a:stretch>
          </p:blipFill>
          <p:spPr>
            <a:xfrm flipH="false" flipV="false">
              <a:off x="0" y="0"/>
              <a:ext cx="6238662" cy="5710468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-5400000">
            <a:off x="2697009" y="3610414"/>
            <a:ext cx="1342379" cy="4755097"/>
            <a:chOff x="0" y="0"/>
            <a:chExt cx="353548" cy="12523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3548" cy="1252371"/>
            </a:xfrm>
            <a:custGeom>
              <a:avLst/>
              <a:gdLst/>
              <a:ahLst/>
              <a:cxnLst/>
              <a:rect r="r" b="b" t="t" l="l"/>
              <a:pathLst>
                <a:path h="1252371" w="353548">
                  <a:moveTo>
                    <a:pt x="0" y="0"/>
                  </a:moveTo>
                  <a:lnTo>
                    <a:pt x="353548" y="0"/>
                  </a:lnTo>
                  <a:lnTo>
                    <a:pt x="353548" y="1252371"/>
                  </a:lnTo>
                  <a:lnTo>
                    <a:pt x="0" y="1252371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68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53548" cy="1290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6386802"/>
            <a:ext cx="4678996" cy="2871498"/>
            <a:chOff x="0" y="0"/>
            <a:chExt cx="3549662" cy="21784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49662" cy="2178426"/>
            </a:xfrm>
            <a:custGeom>
              <a:avLst/>
              <a:gdLst/>
              <a:ahLst/>
              <a:cxnLst/>
              <a:rect r="r" b="b" t="t" l="l"/>
              <a:pathLst>
                <a:path h="2178426" w="3549662">
                  <a:moveTo>
                    <a:pt x="3311537" y="0"/>
                  </a:moveTo>
                  <a:lnTo>
                    <a:pt x="3549662" y="238125"/>
                  </a:lnTo>
                  <a:lnTo>
                    <a:pt x="3549662" y="1940301"/>
                  </a:lnTo>
                  <a:lnTo>
                    <a:pt x="3311537" y="2178426"/>
                  </a:lnTo>
                  <a:lnTo>
                    <a:pt x="238125" y="2178426"/>
                  </a:lnTo>
                  <a:lnTo>
                    <a:pt x="0" y="1940301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311537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63500" y="25400"/>
              <a:ext cx="3422662" cy="2089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48515" y="2357251"/>
            <a:ext cx="4678996" cy="4282851"/>
            <a:chOff x="0" y="0"/>
            <a:chExt cx="6238662" cy="5710468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3"/>
            <a:srcRect l="27100" t="0" r="0" b="0"/>
            <a:stretch>
              <a:fillRect/>
            </a:stretch>
          </p:blipFill>
          <p:spPr>
            <a:xfrm flipH="false" flipV="false">
              <a:off x="0" y="0"/>
              <a:ext cx="6238662" cy="5710468"/>
            </a:xfrm>
            <a:prstGeom prst="rect">
              <a:avLst/>
            </a:prstGeom>
          </p:spPr>
        </p:pic>
      </p:grpSp>
      <p:grpSp>
        <p:nvGrpSpPr>
          <p:cNvPr name="Group 12" id="12"/>
          <p:cNvGrpSpPr/>
          <p:nvPr/>
        </p:nvGrpSpPr>
        <p:grpSpPr>
          <a:xfrm rot="0">
            <a:off x="6048515" y="6386802"/>
            <a:ext cx="4678996" cy="2871498"/>
            <a:chOff x="0" y="0"/>
            <a:chExt cx="3549662" cy="21784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49662" cy="2178426"/>
            </a:xfrm>
            <a:custGeom>
              <a:avLst/>
              <a:gdLst/>
              <a:ahLst/>
              <a:cxnLst/>
              <a:rect r="r" b="b" t="t" l="l"/>
              <a:pathLst>
                <a:path h="2178426" w="3549662">
                  <a:moveTo>
                    <a:pt x="3311537" y="0"/>
                  </a:moveTo>
                  <a:lnTo>
                    <a:pt x="3549662" y="238125"/>
                  </a:lnTo>
                  <a:lnTo>
                    <a:pt x="3549662" y="1940301"/>
                  </a:lnTo>
                  <a:lnTo>
                    <a:pt x="3311537" y="2178426"/>
                  </a:lnTo>
                  <a:lnTo>
                    <a:pt x="238125" y="2178426"/>
                  </a:lnTo>
                  <a:lnTo>
                    <a:pt x="0" y="1940301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311537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63500" y="25400"/>
              <a:ext cx="3422662" cy="2089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7716824" y="3610414"/>
            <a:ext cx="1342379" cy="4755097"/>
            <a:chOff x="0" y="0"/>
            <a:chExt cx="353548" cy="12523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3548" cy="1252371"/>
            </a:xfrm>
            <a:custGeom>
              <a:avLst/>
              <a:gdLst/>
              <a:ahLst/>
              <a:cxnLst/>
              <a:rect r="r" b="b" t="t" l="l"/>
              <a:pathLst>
                <a:path h="1252371" w="353548">
                  <a:moveTo>
                    <a:pt x="0" y="0"/>
                  </a:moveTo>
                  <a:lnTo>
                    <a:pt x="353548" y="0"/>
                  </a:lnTo>
                  <a:lnTo>
                    <a:pt x="353548" y="1252371"/>
                  </a:lnTo>
                  <a:lnTo>
                    <a:pt x="0" y="1252371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68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53548" cy="1290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true" flipV="true" rot="0">
            <a:off x="10488960" y="1028700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238552" y="185202"/>
                </a:moveTo>
                <a:lnTo>
                  <a:pt x="0" y="185202"/>
                </a:lnTo>
                <a:lnTo>
                  <a:pt x="0" y="0"/>
                </a:lnTo>
                <a:lnTo>
                  <a:pt x="238552" y="0"/>
                </a:lnTo>
                <a:lnTo>
                  <a:pt x="238552" y="1852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0">
            <a:off x="1028700" y="1028700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0" y="185202"/>
                </a:moveTo>
                <a:lnTo>
                  <a:pt x="238551" y="185202"/>
                </a:lnTo>
                <a:lnTo>
                  <a:pt x="238551" y="0"/>
                </a:lnTo>
                <a:lnTo>
                  <a:pt x="0" y="0"/>
                </a:lnTo>
                <a:lnTo>
                  <a:pt x="0" y="1852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true" rot="0">
            <a:off x="11756212" y="6659152"/>
            <a:ext cx="1713023" cy="741272"/>
          </a:xfrm>
          <a:custGeom>
            <a:avLst/>
            <a:gdLst/>
            <a:ahLst/>
            <a:cxnLst/>
            <a:rect r="r" b="b" t="t" l="l"/>
            <a:pathLst>
              <a:path h="741272" w="1713023">
                <a:moveTo>
                  <a:pt x="0" y="741272"/>
                </a:moveTo>
                <a:lnTo>
                  <a:pt x="1713022" y="741272"/>
                </a:lnTo>
                <a:lnTo>
                  <a:pt x="1713022" y="0"/>
                </a:lnTo>
                <a:lnTo>
                  <a:pt x="0" y="0"/>
                </a:lnTo>
                <a:lnTo>
                  <a:pt x="0" y="74127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3469234" y="2357251"/>
            <a:ext cx="3790066" cy="2959522"/>
            <a:chOff x="0" y="0"/>
            <a:chExt cx="5053421" cy="3946029"/>
          </a:xfrm>
        </p:grpSpPr>
        <p:pic>
          <p:nvPicPr>
            <p:cNvPr name="Picture 22" id="22"/>
            <p:cNvPicPr>
              <a:picLocks noChangeAspect="true"/>
            </p:cNvPicPr>
            <p:nvPr/>
          </p:nvPicPr>
          <p:blipFill>
            <a:blip r:embed="rId8"/>
            <a:srcRect l="7258" t="0" r="7258" b="0"/>
            <a:stretch>
              <a:fillRect/>
            </a:stretch>
          </p:blipFill>
          <p:spPr>
            <a:xfrm flipH="false" flipV="false">
              <a:off x="0" y="0"/>
              <a:ext cx="5053421" cy="3946029"/>
            </a:xfrm>
            <a:prstGeom prst="rect">
              <a:avLst/>
            </a:prstGeom>
          </p:spPr>
        </p:pic>
      </p:grpSp>
      <p:sp>
        <p:nvSpPr>
          <p:cNvPr name="Freeform 23" id="23"/>
          <p:cNvSpPr/>
          <p:nvPr/>
        </p:nvSpPr>
        <p:spPr>
          <a:xfrm flipH="false" flipV="false" rot="0">
            <a:off x="5732296" y="1081774"/>
            <a:ext cx="316219" cy="79055"/>
          </a:xfrm>
          <a:custGeom>
            <a:avLst/>
            <a:gdLst/>
            <a:ahLst/>
            <a:cxnLst/>
            <a:rect r="r" b="b" t="t" l="l"/>
            <a:pathLst>
              <a:path h="79055" w="316219">
                <a:moveTo>
                  <a:pt x="0" y="0"/>
                </a:moveTo>
                <a:lnTo>
                  <a:pt x="316219" y="0"/>
                </a:lnTo>
                <a:lnTo>
                  <a:pt x="316219" y="79055"/>
                </a:lnTo>
                <a:lnTo>
                  <a:pt x="0" y="790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440467" y="1028700"/>
            <a:ext cx="294776" cy="254579"/>
          </a:xfrm>
          <a:custGeom>
            <a:avLst/>
            <a:gdLst/>
            <a:ahLst/>
            <a:cxnLst/>
            <a:rect r="r" b="b" t="t" l="l"/>
            <a:pathLst>
              <a:path h="254579" w="294776">
                <a:moveTo>
                  <a:pt x="0" y="0"/>
                </a:moveTo>
                <a:lnTo>
                  <a:pt x="294776" y="0"/>
                </a:lnTo>
                <a:lnTo>
                  <a:pt x="294776" y="254579"/>
                </a:lnTo>
                <a:lnTo>
                  <a:pt x="0" y="2545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5400000">
            <a:off x="11744309" y="5999865"/>
            <a:ext cx="190441" cy="166636"/>
            <a:chOff x="0" y="0"/>
            <a:chExt cx="812800" cy="711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756212" y="7928948"/>
            <a:ext cx="6026574" cy="152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8100">
                <a:solidFill>
                  <a:srgbClr val="C1FF72"/>
                </a:solidFill>
                <a:latin typeface="RQND Pro Wide"/>
                <a:ea typeface="RQND Pro Wide"/>
                <a:cs typeface="RQND Pro Wide"/>
                <a:sym typeface="RQND Pro Wide"/>
              </a:rPr>
              <a:t>LOGISTICS SHIFT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1447613"/>
            <a:ext cx="9736862" cy="45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2"/>
              </a:lnSpc>
            </a:pPr>
            <a:r>
              <a:rPr lang="en-US" sz="4400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REVOLUTION IN DELIVERY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71584" y="7068619"/>
            <a:ext cx="3593229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AUTONOMOUS FREIGHT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71584" y="7528898"/>
            <a:ext cx="3593229" cy="125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Driverless trucks offer continuous operation without rest periods, reducing labor costs and improving long-distance supply chain efficiency across industries.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91399" y="7068619"/>
            <a:ext cx="3593229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LAST-MILE SOLUTIONS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91399" y="7738415"/>
            <a:ext cx="3593229" cy="10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Self-driving vans and robotic carts provide faster, contactless deliveries directly to consumers, streamlining e-commerce and retail fulfillment logistics.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883607" y="1051215"/>
            <a:ext cx="180188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SALFORD &amp; CO.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04474" y="933589"/>
            <a:ext cx="8492450" cy="182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9"/>
              </a:lnSpc>
            </a:pPr>
            <a:r>
              <a:rPr lang="en-US" sz="9660">
                <a:solidFill>
                  <a:srgbClr val="C1FF72"/>
                </a:solidFill>
                <a:latin typeface="RQND Pro Wide"/>
                <a:ea typeface="RQND Pro Wide"/>
                <a:cs typeface="RQND Pro Wide"/>
                <a:sym typeface="RQND Pro Wide"/>
              </a:rPr>
              <a:t>USER EXPERIENCE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600950" cy="6528066"/>
            <a:chOff x="0" y="0"/>
            <a:chExt cx="10134600" cy="8704088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11153" t="0" r="11153" b="0"/>
            <a:stretch>
              <a:fillRect/>
            </a:stretch>
          </p:blipFill>
          <p:spPr>
            <a:xfrm flipH="false" flipV="false">
              <a:off x="0" y="0"/>
              <a:ext cx="10134600" cy="8704088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-5400000">
            <a:off x="3047834" y="1949488"/>
            <a:ext cx="3562681" cy="7670924"/>
            <a:chOff x="0" y="0"/>
            <a:chExt cx="938319" cy="20203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319" cy="2020326"/>
            </a:xfrm>
            <a:custGeom>
              <a:avLst/>
              <a:gdLst/>
              <a:ahLst/>
              <a:cxnLst/>
              <a:rect r="r" b="b" t="t" l="l"/>
              <a:pathLst>
                <a:path h="2020326" w="938319">
                  <a:moveTo>
                    <a:pt x="0" y="0"/>
                  </a:moveTo>
                  <a:lnTo>
                    <a:pt x="938319" y="0"/>
                  </a:lnTo>
                  <a:lnTo>
                    <a:pt x="938319" y="2020326"/>
                  </a:lnTo>
                  <a:lnTo>
                    <a:pt x="0" y="202032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68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8319" cy="205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944062"/>
            <a:ext cx="16230600" cy="2314238"/>
            <a:chOff x="0" y="0"/>
            <a:chExt cx="12313142" cy="17556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13142" cy="1755668"/>
            </a:xfrm>
            <a:custGeom>
              <a:avLst/>
              <a:gdLst/>
              <a:ahLst/>
              <a:cxnLst/>
              <a:rect r="r" b="b" t="t" l="l"/>
              <a:pathLst>
                <a:path h="1755668" w="12313142">
                  <a:moveTo>
                    <a:pt x="12075017" y="0"/>
                  </a:moveTo>
                  <a:lnTo>
                    <a:pt x="12313142" y="238125"/>
                  </a:lnTo>
                  <a:lnTo>
                    <a:pt x="12313142" y="1517543"/>
                  </a:lnTo>
                  <a:lnTo>
                    <a:pt x="12075017" y="1755668"/>
                  </a:lnTo>
                  <a:lnTo>
                    <a:pt x="238125" y="1755668"/>
                  </a:lnTo>
                  <a:lnTo>
                    <a:pt x="0" y="151754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2075017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63500" y="25400"/>
              <a:ext cx="12186142" cy="1666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23262" y="7556766"/>
            <a:ext cx="2938844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RELAXED JOURNEYS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90806" y="7556766"/>
            <a:ext cx="2938844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ELDERLY INCLUSION</a:t>
            </a:r>
          </a:p>
        </p:txBody>
      </p:sp>
      <p:sp>
        <p:nvSpPr>
          <p:cNvPr name="Freeform 13" id="13"/>
          <p:cNvSpPr/>
          <p:nvPr/>
        </p:nvSpPr>
        <p:spPr>
          <a:xfrm flipH="false" flipV="true" rot="0">
            <a:off x="12764263" y="4588011"/>
            <a:ext cx="1452763" cy="628650"/>
          </a:xfrm>
          <a:custGeom>
            <a:avLst/>
            <a:gdLst/>
            <a:ahLst/>
            <a:cxnLst/>
            <a:rect r="r" b="b" t="t" l="l"/>
            <a:pathLst>
              <a:path h="628650" w="1452763">
                <a:moveTo>
                  <a:pt x="0" y="628650"/>
                </a:moveTo>
                <a:lnTo>
                  <a:pt x="1452763" y="628650"/>
                </a:lnTo>
                <a:lnTo>
                  <a:pt x="1452763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404474" y="4003609"/>
            <a:ext cx="2657248" cy="2426102"/>
            <a:chOff x="0" y="0"/>
            <a:chExt cx="3542998" cy="3234803"/>
          </a:xfrm>
        </p:grpSpPr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5"/>
            <a:srcRect l="13513" t="0" r="13513" b="0"/>
            <a:stretch>
              <a:fillRect/>
            </a:stretch>
          </p:blipFill>
          <p:spPr>
            <a:xfrm flipH="false" flipV="false">
              <a:off x="0" y="0"/>
              <a:ext cx="3542998" cy="3234803"/>
            </a:xfrm>
            <a:prstGeom prst="rect">
              <a:avLst/>
            </a:prstGeom>
          </p:spPr>
        </p:pic>
      </p:grpSp>
      <p:grpSp>
        <p:nvGrpSpPr>
          <p:cNvPr name="Group 16" id="16"/>
          <p:cNvGrpSpPr/>
          <p:nvPr/>
        </p:nvGrpSpPr>
        <p:grpSpPr>
          <a:xfrm rot="5400000">
            <a:off x="12752361" y="4015512"/>
            <a:ext cx="190441" cy="166636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440467" y="1028700"/>
            <a:ext cx="294776" cy="254579"/>
          </a:xfrm>
          <a:custGeom>
            <a:avLst/>
            <a:gdLst/>
            <a:ahLst/>
            <a:cxnLst/>
            <a:rect r="r" b="b" t="t" l="l"/>
            <a:pathLst>
              <a:path h="254579" w="294776">
                <a:moveTo>
                  <a:pt x="0" y="0"/>
                </a:moveTo>
                <a:lnTo>
                  <a:pt x="294776" y="0"/>
                </a:lnTo>
                <a:lnTo>
                  <a:pt x="294776" y="254579"/>
                </a:lnTo>
                <a:lnTo>
                  <a:pt x="0" y="254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>
            <a:off x="9404478" y="3339797"/>
            <a:ext cx="7854822" cy="0"/>
          </a:xfrm>
          <a:prstGeom prst="line">
            <a:avLst/>
          </a:prstGeom>
          <a:ln cap="flat" w="9525">
            <a:solidFill>
              <a:srgbClr val="C1FF72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2764263" y="5605865"/>
            <a:ext cx="4495037" cy="82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4400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COMFORT &amp; ACCESSIBILITY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3262" y="8017045"/>
            <a:ext cx="2938844" cy="62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Passengers can sleep, read, or work while the car autonomously navigates.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90806" y="8017045"/>
            <a:ext cx="2938844" cy="62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Improves independence for elderly or disabled individuals.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58350" y="7556766"/>
            <a:ext cx="2938844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REAL-TIME NAVIGATION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58350" y="8017045"/>
            <a:ext cx="2938844" cy="62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Automatically adjusts routes based on live traffic.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25894" y="7556766"/>
            <a:ext cx="2938844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ONBOARD CONNECTIVITY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25894" y="8017045"/>
            <a:ext cx="2938844" cy="62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Entertainment and productivity options built into vehicle systems.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883607" y="1051215"/>
            <a:ext cx="180188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SALFORD &amp; CO.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14238" y="4154412"/>
            <a:ext cx="9698203" cy="2065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8"/>
              </a:lnSpc>
            </a:pPr>
            <a:r>
              <a:rPr lang="en-US" sz="10909">
                <a:solidFill>
                  <a:srgbClr val="C1FF72"/>
                </a:solidFill>
                <a:latin typeface="RQND Pro Wide"/>
                <a:ea typeface="RQND Pro Wide"/>
                <a:cs typeface="RQND Pro Wide"/>
                <a:sym typeface="RQND Pro Wide"/>
              </a:rPr>
              <a:t>REGULATION NEEDS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6056838" cy="2314238"/>
            <a:chOff x="0" y="0"/>
            <a:chExt cx="4594945" cy="17556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94945" cy="1755668"/>
            </a:xfrm>
            <a:custGeom>
              <a:avLst/>
              <a:gdLst/>
              <a:ahLst/>
              <a:cxnLst/>
              <a:rect r="r" b="b" t="t" l="l"/>
              <a:pathLst>
                <a:path h="1755668" w="4594945">
                  <a:moveTo>
                    <a:pt x="4356820" y="0"/>
                  </a:moveTo>
                  <a:lnTo>
                    <a:pt x="4594945" y="238125"/>
                  </a:lnTo>
                  <a:lnTo>
                    <a:pt x="4594945" y="1517543"/>
                  </a:lnTo>
                  <a:lnTo>
                    <a:pt x="4356820" y="1755668"/>
                  </a:lnTo>
                  <a:lnTo>
                    <a:pt x="238125" y="1755668"/>
                  </a:lnTo>
                  <a:lnTo>
                    <a:pt x="0" y="151754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356820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63500" y="25400"/>
              <a:ext cx="4467945" cy="1666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09125" y="1536646"/>
            <a:ext cx="4695988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LAWS AND COMPLIANCE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9125" y="1996925"/>
            <a:ext cx="4695988" cy="83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New driving codes must be developed to regulate how autonomous vehicles behave and interact with traditional traffic environments and emergency scenarios.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3990335"/>
            <a:ext cx="6056838" cy="2314238"/>
            <a:chOff x="0" y="0"/>
            <a:chExt cx="4594945" cy="17556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94945" cy="1755668"/>
            </a:xfrm>
            <a:custGeom>
              <a:avLst/>
              <a:gdLst/>
              <a:ahLst/>
              <a:cxnLst/>
              <a:rect r="r" b="b" t="t" l="l"/>
              <a:pathLst>
                <a:path h="1755668" w="4594945">
                  <a:moveTo>
                    <a:pt x="4356820" y="0"/>
                  </a:moveTo>
                  <a:lnTo>
                    <a:pt x="4594945" y="238125"/>
                  </a:lnTo>
                  <a:lnTo>
                    <a:pt x="4594945" y="1517543"/>
                  </a:lnTo>
                  <a:lnTo>
                    <a:pt x="4356820" y="1755668"/>
                  </a:lnTo>
                  <a:lnTo>
                    <a:pt x="238125" y="1755668"/>
                  </a:lnTo>
                  <a:lnTo>
                    <a:pt x="0" y="151754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356820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63500" y="25400"/>
              <a:ext cx="4467945" cy="1666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09125" y="4498281"/>
            <a:ext cx="4695988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DATA HANDLING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9125" y="4958560"/>
            <a:ext cx="4695988" cy="83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Privacy policies should protect personal and location data gathered through sensors, navigation logs, and vehicle communication systems.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6944062"/>
            <a:ext cx="6056838" cy="2314238"/>
            <a:chOff x="0" y="0"/>
            <a:chExt cx="4594945" cy="17556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94945" cy="1755668"/>
            </a:xfrm>
            <a:custGeom>
              <a:avLst/>
              <a:gdLst/>
              <a:ahLst/>
              <a:cxnLst/>
              <a:rect r="r" b="b" t="t" l="l"/>
              <a:pathLst>
                <a:path h="1755668" w="4594945">
                  <a:moveTo>
                    <a:pt x="4356820" y="0"/>
                  </a:moveTo>
                  <a:lnTo>
                    <a:pt x="4594945" y="238125"/>
                  </a:lnTo>
                  <a:lnTo>
                    <a:pt x="4594945" y="1517543"/>
                  </a:lnTo>
                  <a:lnTo>
                    <a:pt x="4356820" y="1755668"/>
                  </a:lnTo>
                  <a:lnTo>
                    <a:pt x="238125" y="1755668"/>
                  </a:lnTo>
                  <a:lnTo>
                    <a:pt x="0" y="151754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356820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63500" y="25400"/>
              <a:ext cx="4467945" cy="1666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09125" y="7452007"/>
            <a:ext cx="4695988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LIABILITY ASSIGNMENT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9125" y="7912286"/>
            <a:ext cx="4695988" cy="83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In case of accidents, determining fault between the user, vehicle software provider, and manufacturer must be clarified through legislation and industry standards.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114238" y="6944062"/>
            <a:ext cx="4869814" cy="2314238"/>
            <a:chOff x="0" y="0"/>
            <a:chExt cx="6493086" cy="3085651"/>
          </a:xfrm>
        </p:grpSpPr>
        <p:pic>
          <p:nvPicPr>
            <p:cNvPr name="Picture 19" id="19"/>
            <p:cNvPicPr>
              <a:picLocks noChangeAspect="true"/>
            </p:cNvPicPr>
            <p:nvPr/>
          </p:nvPicPr>
          <p:blipFill>
            <a:blip r:embed="rId2"/>
            <a:srcRect l="0" t="14336" r="0" b="14336"/>
            <a:stretch>
              <a:fillRect/>
            </a:stretch>
          </p:blipFill>
          <p:spPr>
            <a:xfrm flipH="false" flipV="false">
              <a:off x="0" y="0"/>
              <a:ext cx="6493086" cy="3085651"/>
            </a:xfrm>
            <a:prstGeom prst="rect">
              <a:avLst/>
            </a:prstGeom>
          </p:spPr>
        </p:pic>
      </p:grpSp>
      <p:grpSp>
        <p:nvGrpSpPr>
          <p:cNvPr name="Group 20" id="20"/>
          <p:cNvGrpSpPr/>
          <p:nvPr/>
        </p:nvGrpSpPr>
        <p:grpSpPr>
          <a:xfrm rot="0">
            <a:off x="12984052" y="1028700"/>
            <a:ext cx="4275248" cy="2314238"/>
            <a:chOff x="0" y="0"/>
            <a:chExt cx="5700330" cy="3085651"/>
          </a:xfrm>
        </p:grpSpPr>
        <p:pic>
          <p:nvPicPr>
            <p:cNvPr name="Picture 21" id="21"/>
            <p:cNvPicPr>
              <a:picLocks noChangeAspect="true"/>
            </p:cNvPicPr>
            <p:nvPr/>
          </p:nvPicPr>
          <p:blipFill>
            <a:blip r:embed="rId3"/>
            <a:srcRect l="0" t="1487" r="0" b="17265"/>
            <a:stretch>
              <a:fillRect/>
            </a:stretch>
          </p:blipFill>
          <p:spPr>
            <a:xfrm flipH="false" flipV="false">
              <a:off x="0" y="0"/>
              <a:ext cx="5700330" cy="3085651"/>
            </a:xfrm>
            <a:prstGeom prst="rect">
              <a:avLst/>
            </a:prstGeom>
          </p:spPr>
        </p:pic>
      </p:grpSp>
      <p:sp>
        <p:nvSpPr>
          <p:cNvPr name="Freeform 22" id="22"/>
          <p:cNvSpPr/>
          <p:nvPr/>
        </p:nvSpPr>
        <p:spPr>
          <a:xfrm flipH="false" flipV="true" rot="0">
            <a:off x="8114238" y="3214519"/>
            <a:ext cx="1452763" cy="628650"/>
          </a:xfrm>
          <a:custGeom>
            <a:avLst/>
            <a:gdLst/>
            <a:ahLst/>
            <a:cxnLst/>
            <a:rect r="r" b="b" t="t" l="l"/>
            <a:pathLst>
              <a:path h="628650" w="1452763">
                <a:moveTo>
                  <a:pt x="0" y="628650"/>
                </a:moveTo>
                <a:lnTo>
                  <a:pt x="1452763" y="628650"/>
                </a:lnTo>
                <a:lnTo>
                  <a:pt x="1452763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>
            <a:off x="8114238" y="6309336"/>
            <a:ext cx="9145062" cy="0"/>
          </a:xfrm>
          <a:prstGeom prst="line">
            <a:avLst/>
          </a:prstGeom>
          <a:ln cap="flat" w="9525">
            <a:solidFill>
              <a:srgbClr val="C1FF72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5400000">
            <a:off x="17080762" y="5808530"/>
            <a:ext cx="190441" cy="166636"/>
            <a:chOff x="0" y="0"/>
            <a:chExt cx="812800" cy="711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true" rot="0">
            <a:off x="8114238" y="1028700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0" y="185202"/>
                </a:moveTo>
                <a:lnTo>
                  <a:pt x="238551" y="185202"/>
                </a:lnTo>
                <a:lnTo>
                  <a:pt x="238551" y="0"/>
                </a:lnTo>
                <a:lnTo>
                  <a:pt x="0" y="0"/>
                </a:lnTo>
                <a:lnTo>
                  <a:pt x="0" y="18520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0">
            <a:off x="17020749" y="9073098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238551" y="0"/>
                </a:moveTo>
                <a:lnTo>
                  <a:pt x="0" y="0"/>
                </a:lnTo>
                <a:lnTo>
                  <a:pt x="0" y="185202"/>
                </a:lnTo>
                <a:lnTo>
                  <a:pt x="238551" y="185202"/>
                </a:lnTo>
                <a:lnTo>
                  <a:pt x="2385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5400000">
            <a:off x="10190414" y="4772642"/>
            <a:ext cx="717463" cy="5022202"/>
            <a:chOff x="0" y="0"/>
            <a:chExt cx="188961" cy="1322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8961" cy="1322720"/>
            </a:xfrm>
            <a:custGeom>
              <a:avLst/>
              <a:gdLst/>
              <a:ahLst/>
              <a:cxnLst/>
              <a:rect r="r" b="b" t="t" l="l"/>
              <a:pathLst>
                <a:path h="1322720" w="188961">
                  <a:moveTo>
                    <a:pt x="0" y="0"/>
                  </a:moveTo>
                  <a:lnTo>
                    <a:pt x="188961" y="0"/>
                  </a:lnTo>
                  <a:lnTo>
                    <a:pt x="188961" y="1322720"/>
                  </a:lnTo>
                  <a:lnTo>
                    <a:pt x="0" y="132272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68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88961" cy="1360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5400000">
            <a:off x="14762945" y="762213"/>
            <a:ext cx="717463" cy="4482089"/>
            <a:chOff x="0" y="0"/>
            <a:chExt cx="188961" cy="11804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8961" cy="1180468"/>
            </a:xfrm>
            <a:custGeom>
              <a:avLst/>
              <a:gdLst/>
              <a:ahLst/>
              <a:cxnLst/>
              <a:rect r="r" b="b" t="t" l="l"/>
              <a:pathLst>
                <a:path h="1180468" w="188961">
                  <a:moveTo>
                    <a:pt x="0" y="0"/>
                  </a:moveTo>
                  <a:lnTo>
                    <a:pt x="188961" y="0"/>
                  </a:lnTo>
                  <a:lnTo>
                    <a:pt x="188961" y="1180468"/>
                  </a:lnTo>
                  <a:lnTo>
                    <a:pt x="0" y="118046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68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88961" cy="1218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4931" y="2858080"/>
            <a:ext cx="6284369" cy="2871498"/>
            <a:chOff x="0" y="0"/>
            <a:chExt cx="4767558" cy="21784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67558" cy="2178426"/>
            </a:xfrm>
            <a:custGeom>
              <a:avLst/>
              <a:gdLst/>
              <a:ahLst/>
              <a:cxnLst/>
              <a:rect r="r" b="b" t="t" l="l"/>
              <a:pathLst>
                <a:path h="2178426" w="4767558">
                  <a:moveTo>
                    <a:pt x="4529433" y="0"/>
                  </a:moveTo>
                  <a:lnTo>
                    <a:pt x="4767558" y="238125"/>
                  </a:lnTo>
                  <a:lnTo>
                    <a:pt x="4767558" y="1940301"/>
                  </a:lnTo>
                  <a:lnTo>
                    <a:pt x="4529433" y="2178426"/>
                  </a:lnTo>
                  <a:lnTo>
                    <a:pt x="238125" y="2178426"/>
                  </a:lnTo>
                  <a:lnTo>
                    <a:pt x="0" y="1940301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529433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25400"/>
              <a:ext cx="4640558" cy="2089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11620783" y="3665278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0" y="185202"/>
                </a:moveTo>
                <a:lnTo>
                  <a:pt x="238551" y="185202"/>
                </a:lnTo>
                <a:lnTo>
                  <a:pt x="238551" y="0"/>
                </a:lnTo>
                <a:lnTo>
                  <a:pt x="0" y="0"/>
                </a:lnTo>
                <a:lnTo>
                  <a:pt x="0" y="1852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74931" y="6386802"/>
            <a:ext cx="6284369" cy="2871498"/>
            <a:chOff x="0" y="0"/>
            <a:chExt cx="4767558" cy="21784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67558" cy="2178426"/>
            </a:xfrm>
            <a:custGeom>
              <a:avLst/>
              <a:gdLst/>
              <a:ahLst/>
              <a:cxnLst/>
              <a:rect r="r" b="b" t="t" l="l"/>
              <a:pathLst>
                <a:path h="2178426" w="4767558">
                  <a:moveTo>
                    <a:pt x="4529433" y="0"/>
                  </a:moveTo>
                  <a:lnTo>
                    <a:pt x="4767558" y="238125"/>
                  </a:lnTo>
                  <a:lnTo>
                    <a:pt x="4767558" y="1940301"/>
                  </a:lnTo>
                  <a:lnTo>
                    <a:pt x="4529433" y="2178426"/>
                  </a:lnTo>
                  <a:lnTo>
                    <a:pt x="238125" y="2178426"/>
                  </a:lnTo>
                  <a:lnTo>
                    <a:pt x="0" y="1940301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529433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63500" y="25400"/>
              <a:ext cx="4640558" cy="2089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1620783" y="7194000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0" y="185203"/>
                </a:moveTo>
                <a:lnTo>
                  <a:pt x="238551" y="185203"/>
                </a:lnTo>
                <a:lnTo>
                  <a:pt x="238551" y="0"/>
                </a:lnTo>
                <a:lnTo>
                  <a:pt x="0" y="0"/>
                </a:lnTo>
                <a:lnTo>
                  <a:pt x="0" y="18520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2858080"/>
            <a:ext cx="8917531" cy="6400220"/>
            <a:chOff x="0" y="0"/>
            <a:chExt cx="11890042" cy="8533627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4"/>
            <a:srcRect l="3585" t="0" r="3585" b="0"/>
            <a:stretch>
              <a:fillRect/>
            </a:stretch>
          </p:blipFill>
          <p:spPr>
            <a:xfrm flipH="true" flipV="false">
              <a:off x="0" y="0"/>
              <a:ext cx="11890042" cy="8533627"/>
            </a:xfrm>
            <a:prstGeom prst="rect">
              <a:avLst/>
            </a:prstGeom>
          </p:spPr>
        </p:pic>
      </p:grpSp>
      <p:grpSp>
        <p:nvGrpSpPr>
          <p:cNvPr name="Group 12" id="12"/>
          <p:cNvGrpSpPr/>
          <p:nvPr/>
        </p:nvGrpSpPr>
        <p:grpSpPr>
          <a:xfrm rot="-5400000">
            <a:off x="4042192" y="3295525"/>
            <a:ext cx="2890548" cy="9073102"/>
            <a:chOff x="0" y="0"/>
            <a:chExt cx="761296" cy="23896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1297" cy="2389624"/>
            </a:xfrm>
            <a:custGeom>
              <a:avLst/>
              <a:gdLst/>
              <a:ahLst/>
              <a:cxnLst/>
              <a:rect r="r" b="b" t="t" l="l"/>
              <a:pathLst>
                <a:path h="2389624" w="761297">
                  <a:moveTo>
                    <a:pt x="0" y="0"/>
                  </a:moveTo>
                  <a:lnTo>
                    <a:pt x="761297" y="0"/>
                  </a:lnTo>
                  <a:lnTo>
                    <a:pt x="761297" y="2389624"/>
                  </a:lnTo>
                  <a:lnTo>
                    <a:pt x="0" y="238962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68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1296" cy="2427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0">
            <a:off x="2057400" y="7661432"/>
            <a:ext cx="1713023" cy="741272"/>
          </a:xfrm>
          <a:custGeom>
            <a:avLst/>
            <a:gdLst/>
            <a:ahLst/>
            <a:cxnLst/>
            <a:rect r="r" b="b" t="t" l="l"/>
            <a:pathLst>
              <a:path h="741272" w="1713023">
                <a:moveTo>
                  <a:pt x="0" y="741272"/>
                </a:moveTo>
                <a:lnTo>
                  <a:pt x="1713023" y="741272"/>
                </a:lnTo>
                <a:lnTo>
                  <a:pt x="1713023" y="0"/>
                </a:lnTo>
                <a:lnTo>
                  <a:pt x="0" y="0"/>
                </a:lnTo>
                <a:lnTo>
                  <a:pt x="0" y="74127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5400000">
            <a:off x="10963029" y="5974872"/>
            <a:ext cx="190441" cy="166636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2057400" y="8750211"/>
            <a:ext cx="6860131" cy="0"/>
          </a:xfrm>
          <a:prstGeom prst="line">
            <a:avLst/>
          </a:prstGeom>
          <a:ln cap="flat" w="9525">
            <a:solidFill>
              <a:srgbClr val="C1FF72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028700" y="973782"/>
            <a:ext cx="12761331" cy="100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9"/>
              </a:lnSpc>
            </a:pPr>
            <a:r>
              <a:rPr lang="en-US" sz="9808">
                <a:solidFill>
                  <a:srgbClr val="C1FF72"/>
                </a:solidFill>
                <a:latin typeface="RQND Pro Wide"/>
                <a:ea typeface="RQND Pro Wide"/>
                <a:cs typeface="RQND Pro Wide"/>
                <a:sym typeface="RQND Pro Wide"/>
              </a:rPr>
              <a:t>PUBLIC CONCERNS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90031" y="1003849"/>
            <a:ext cx="3469269" cy="82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4400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TRUST &amp; TRANSITION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20783" y="4503346"/>
            <a:ext cx="1238299" cy="419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EMPLOYMENT RISKS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55314" y="3665278"/>
            <a:ext cx="3158134" cy="125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Self-driving systems could displace millions of jobs, particularly in commercial driving, ride-hailing, logistics, and related transportation sectors.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20783" y="8032068"/>
            <a:ext cx="1238299" cy="419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TECH RELIABILITY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55314" y="7194000"/>
            <a:ext cx="3158134" cy="125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Many still doubt the ability of machines to handle unpredictable situations, especially in extreme weather or complex driving conditions.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40794"/>
            <a:ext cx="8068376" cy="6417506"/>
            <a:chOff x="0" y="0"/>
            <a:chExt cx="10757835" cy="8556675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4723" t="0" r="24556" b="0"/>
            <a:stretch>
              <a:fillRect/>
            </a:stretch>
          </p:blipFill>
          <p:spPr>
            <a:xfrm flipH="false" flipV="false">
              <a:off x="0" y="0"/>
              <a:ext cx="10757835" cy="8556675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-10800000">
            <a:off x="5303225" y="2774850"/>
            <a:ext cx="2774676" cy="6549394"/>
            <a:chOff x="0" y="0"/>
            <a:chExt cx="730779" cy="17249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0779" cy="1724943"/>
            </a:xfrm>
            <a:custGeom>
              <a:avLst/>
              <a:gdLst/>
              <a:ahLst/>
              <a:cxnLst/>
              <a:rect r="r" b="b" t="t" l="l"/>
              <a:pathLst>
                <a:path h="1724943" w="730779">
                  <a:moveTo>
                    <a:pt x="0" y="0"/>
                  </a:moveTo>
                  <a:lnTo>
                    <a:pt x="730779" y="0"/>
                  </a:lnTo>
                  <a:lnTo>
                    <a:pt x="730779" y="1724943"/>
                  </a:lnTo>
                  <a:lnTo>
                    <a:pt x="0" y="172494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68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30779" cy="1763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47758" y="4286916"/>
            <a:ext cx="9911542" cy="4971384"/>
            <a:chOff x="0" y="0"/>
            <a:chExt cx="7519268" cy="37714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19268" cy="3771478"/>
            </a:xfrm>
            <a:custGeom>
              <a:avLst/>
              <a:gdLst/>
              <a:ahLst/>
              <a:cxnLst/>
              <a:rect r="r" b="b" t="t" l="l"/>
              <a:pathLst>
                <a:path h="3771478" w="7519268">
                  <a:moveTo>
                    <a:pt x="7281143" y="0"/>
                  </a:moveTo>
                  <a:lnTo>
                    <a:pt x="7519268" y="238125"/>
                  </a:lnTo>
                  <a:lnTo>
                    <a:pt x="7519268" y="3533353"/>
                  </a:lnTo>
                  <a:lnTo>
                    <a:pt x="7281143" y="3771478"/>
                  </a:lnTo>
                  <a:lnTo>
                    <a:pt x="238125" y="3771478"/>
                  </a:lnTo>
                  <a:lnTo>
                    <a:pt x="0" y="353335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7281143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63500" y="25400"/>
              <a:ext cx="7392268" cy="3682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8056474" y="6827548"/>
            <a:ext cx="190441" cy="166636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0">
            <a:off x="1028700" y="1028700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0" y="185202"/>
                </a:moveTo>
                <a:lnTo>
                  <a:pt x="238551" y="185202"/>
                </a:lnTo>
                <a:lnTo>
                  <a:pt x="238551" y="0"/>
                </a:lnTo>
                <a:lnTo>
                  <a:pt x="0" y="0"/>
                </a:lnTo>
                <a:lnTo>
                  <a:pt x="0" y="18520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8574097" y="2840794"/>
            <a:ext cx="1713023" cy="741272"/>
          </a:xfrm>
          <a:custGeom>
            <a:avLst/>
            <a:gdLst/>
            <a:ahLst/>
            <a:cxnLst/>
            <a:rect r="r" b="b" t="t" l="l"/>
            <a:pathLst>
              <a:path h="741272" w="1713023">
                <a:moveTo>
                  <a:pt x="0" y="741272"/>
                </a:moveTo>
                <a:lnTo>
                  <a:pt x="1713023" y="741272"/>
                </a:lnTo>
                <a:lnTo>
                  <a:pt x="1713023" y="0"/>
                </a:lnTo>
                <a:lnTo>
                  <a:pt x="0" y="0"/>
                </a:lnTo>
                <a:lnTo>
                  <a:pt x="0" y="74127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flipV="true">
            <a:off x="8068376" y="6265534"/>
            <a:ext cx="9190924" cy="0"/>
          </a:xfrm>
          <a:prstGeom prst="line">
            <a:avLst/>
          </a:prstGeom>
          <a:ln cap="flat" w="9525">
            <a:solidFill>
              <a:srgbClr val="C1FF72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2295951" y="868206"/>
            <a:ext cx="15486835" cy="127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1"/>
              </a:lnSpc>
            </a:pPr>
            <a:r>
              <a:rPr lang="en-US" sz="12296">
                <a:solidFill>
                  <a:srgbClr val="C1FF72"/>
                </a:solidFill>
                <a:latin typeface="RQND Pro Wide"/>
                <a:ea typeface="RQND Pro Wide"/>
                <a:cs typeface="RQND Pro Wide"/>
                <a:sym typeface="RQND Pro Wide"/>
              </a:rPr>
              <a:t>FUTURE OUTLOOK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68376" y="5262985"/>
            <a:ext cx="9190924" cy="45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4400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TOWARDS FULL AUTONOMY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68376" y="7234679"/>
            <a:ext cx="3916694" cy="125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Breakthroughs in AI, edge computing, and 5G connectivity will make autonomous vehicles more capable and reliable. As infrastructure adapts, these vehicles will become a core part of modern transit systems.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21988" y="6815645"/>
            <a:ext cx="3916694" cy="167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The path to full autonomy is progressive, with semi-autonomous stages gaining traction. While challenges remain, innovation and investment are steadily driving the technology toward mainstream adoption across industries and regions.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1463" y="1192448"/>
            <a:ext cx="13325075" cy="160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14"/>
              </a:lnSpc>
            </a:pPr>
            <a:r>
              <a:rPr lang="en-US" sz="15609">
                <a:solidFill>
                  <a:srgbClr val="C1FF72"/>
                </a:solidFill>
                <a:latin typeface="RQND Pro Wide"/>
                <a:ea typeface="RQND Pro Wide"/>
                <a:cs typeface="RQND Pro Wide"/>
                <a:sym typeface="RQND Pro Wide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3461593"/>
            <a:ext cx="5673312" cy="5796707"/>
            <a:chOff x="0" y="0"/>
            <a:chExt cx="7564416" cy="7728943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22507" t="0" r="22507" b="0"/>
            <a:stretch>
              <a:fillRect/>
            </a:stretch>
          </p:blipFill>
          <p:spPr>
            <a:xfrm flipH="false" flipV="false">
              <a:off x="0" y="0"/>
              <a:ext cx="7564416" cy="7728943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-10800000">
            <a:off x="5303225" y="3372322"/>
            <a:ext cx="1408596" cy="5975249"/>
            <a:chOff x="0" y="0"/>
            <a:chExt cx="370988" cy="1573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988" cy="1573728"/>
            </a:xfrm>
            <a:custGeom>
              <a:avLst/>
              <a:gdLst/>
              <a:ahLst/>
              <a:cxnLst/>
              <a:rect r="r" b="b" t="t" l="l"/>
              <a:pathLst>
                <a:path h="1573728" w="370988">
                  <a:moveTo>
                    <a:pt x="0" y="0"/>
                  </a:moveTo>
                  <a:lnTo>
                    <a:pt x="370988" y="0"/>
                  </a:lnTo>
                  <a:lnTo>
                    <a:pt x="370988" y="1573728"/>
                  </a:lnTo>
                  <a:lnTo>
                    <a:pt x="0" y="157372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68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0988" cy="1611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53514" y="3461593"/>
            <a:ext cx="5905786" cy="5796707"/>
            <a:chOff x="0" y="0"/>
            <a:chExt cx="7874382" cy="7728943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3"/>
            <a:srcRect l="16124" t="0" r="16124" b="0"/>
            <a:stretch>
              <a:fillRect/>
            </a:stretch>
          </p:blipFill>
          <p:spPr>
            <a:xfrm flipH="false" flipV="false">
              <a:off x="0" y="0"/>
              <a:ext cx="7874382" cy="7728943"/>
            </a:xfrm>
            <a:prstGeom prst="rect">
              <a:avLst/>
            </a:prstGeom>
          </p:spPr>
        </p:pic>
      </p:grpSp>
      <p:grpSp>
        <p:nvGrpSpPr>
          <p:cNvPr name="Group 10" id="10"/>
          <p:cNvGrpSpPr/>
          <p:nvPr/>
        </p:nvGrpSpPr>
        <p:grpSpPr>
          <a:xfrm rot="0">
            <a:off x="11324939" y="3312574"/>
            <a:ext cx="1408596" cy="5975249"/>
            <a:chOff x="0" y="0"/>
            <a:chExt cx="370988" cy="15737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0988" cy="1573728"/>
            </a:xfrm>
            <a:custGeom>
              <a:avLst/>
              <a:gdLst/>
              <a:ahLst/>
              <a:cxnLst/>
              <a:rect r="r" b="b" t="t" l="l"/>
              <a:pathLst>
                <a:path h="1573728" w="370988">
                  <a:moveTo>
                    <a:pt x="0" y="0"/>
                  </a:moveTo>
                  <a:lnTo>
                    <a:pt x="370988" y="0"/>
                  </a:lnTo>
                  <a:lnTo>
                    <a:pt x="370988" y="1573728"/>
                  </a:lnTo>
                  <a:lnTo>
                    <a:pt x="0" y="157372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68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70988" cy="1611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95796" y="3461593"/>
            <a:ext cx="6696408" cy="5796707"/>
            <a:chOff x="0" y="0"/>
            <a:chExt cx="5080146" cy="43975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80146" cy="4397599"/>
            </a:xfrm>
            <a:custGeom>
              <a:avLst/>
              <a:gdLst/>
              <a:ahLst/>
              <a:cxnLst/>
              <a:rect r="r" b="b" t="t" l="l"/>
              <a:pathLst>
                <a:path h="4397599" w="5080146">
                  <a:moveTo>
                    <a:pt x="4842021" y="0"/>
                  </a:moveTo>
                  <a:lnTo>
                    <a:pt x="5080146" y="238125"/>
                  </a:lnTo>
                  <a:lnTo>
                    <a:pt x="5080146" y="4159474"/>
                  </a:lnTo>
                  <a:lnTo>
                    <a:pt x="4842021" y="4397599"/>
                  </a:lnTo>
                  <a:lnTo>
                    <a:pt x="238125" y="4397599"/>
                  </a:lnTo>
                  <a:lnTo>
                    <a:pt x="0" y="4159474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842021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63500" y="25400"/>
              <a:ext cx="4953146" cy="430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711821" y="6300199"/>
            <a:ext cx="376800" cy="376800"/>
          </a:xfrm>
          <a:custGeom>
            <a:avLst/>
            <a:gdLst/>
            <a:ahLst/>
            <a:cxnLst/>
            <a:rect r="r" b="b" t="t" l="l"/>
            <a:pathLst>
              <a:path h="376800" w="376800">
                <a:moveTo>
                  <a:pt x="0" y="0"/>
                </a:moveTo>
                <a:lnTo>
                  <a:pt x="376800" y="0"/>
                </a:lnTo>
                <a:lnTo>
                  <a:pt x="376800" y="376800"/>
                </a:lnTo>
                <a:lnTo>
                  <a:pt x="0" y="376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702012" y="6904315"/>
            <a:ext cx="396418" cy="396418"/>
          </a:xfrm>
          <a:custGeom>
            <a:avLst/>
            <a:gdLst/>
            <a:ahLst/>
            <a:cxnLst/>
            <a:rect r="r" b="b" t="t" l="l"/>
            <a:pathLst>
              <a:path h="396418" w="396418">
                <a:moveTo>
                  <a:pt x="0" y="0"/>
                </a:moveTo>
                <a:lnTo>
                  <a:pt x="396418" y="0"/>
                </a:lnTo>
                <a:lnTo>
                  <a:pt x="396418" y="396417"/>
                </a:lnTo>
                <a:lnTo>
                  <a:pt x="0" y="396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6702012" y="7528049"/>
            <a:ext cx="396418" cy="396418"/>
          </a:xfrm>
          <a:custGeom>
            <a:avLst/>
            <a:gdLst/>
            <a:ahLst/>
            <a:cxnLst/>
            <a:rect r="r" b="b" t="t" l="l"/>
            <a:pathLst>
              <a:path h="396418" w="396418">
                <a:moveTo>
                  <a:pt x="0" y="0"/>
                </a:moveTo>
                <a:lnTo>
                  <a:pt x="396418" y="0"/>
                </a:lnTo>
                <a:lnTo>
                  <a:pt x="396418" y="396417"/>
                </a:lnTo>
                <a:lnTo>
                  <a:pt x="0" y="3964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6702012" y="8151783"/>
            <a:ext cx="396418" cy="396418"/>
          </a:xfrm>
          <a:custGeom>
            <a:avLst/>
            <a:gdLst/>
            <a:ahLst/>
            <a:cxnLst/>
            <a:rect r="r" b="b" t="t" l="l"/>
            <a:pathLst>
              <a:path h="396418" w="396418">
                <a:moveTo>
                  <a:pt x="0" y="0"/>
                </a:moveTo>
                <a:lnTo>
                  <a:pt x="396418" y="0"/>
                </a:lnTo>
                <a:lnTo>
                  <a:pt x="396418" y="396417"/>
                </a:lnTo>
                <a:lnTo>
                  <a:pt x="0" y="3964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true" rot="0">
            <a:off x="15806537" y="1717700"/>
            <a:ext cx="1452763" cy="628650"/>
          </a:xfrm>
          <a:custGeom>
            <a:avLst/>
            <a:gdLst/>
            <a:ahLst/>
            <a:cxnLst/>
            <a:rect r="r" b="b" t="t" l="l"/>
            <a:pathLst>
              <a:path h="628650" w="1452763">
                <a:moveTo>
                  <a:pt x="0" y="628650"/>
                </a:moveTo>
                <a:lnTo>
                  <a:pt x="1452763" y="628650"/>
                </a:lnTo>
                <a:lnTo>
                  <a:pt x="1452763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true" rot="0">
            <a:off x="1028700" y="1717700"/>
            <a:ext cx="1452763" cy="628650"/>
          </a:xfrm>
          <a:custGeom>
            <a:avLst/>
            <a:gdLst/>
            <a:ahLst/>
            <a:cxnLst/>
            <a:rect r="r" b="b" t="t" l="l"/>
            <a:pathLst>
              <a:path h="628650" w="1452763">
                <a:moveTo>
                  <a:pt x="1452763" y="628650"/>
                </a:moveTo>
                <a:lnTo>
                  <a:pt x="0" y="628650"/>
                </a:lnTo>
                <a:lnTo>
                  <a:pt x="0" y="0"/>
                </a:lnTo>
                <a:lnTo>
                  <a:pt x="1452763" y="0"/>
                </a:lnTo>
                <a:lnTo>
                  <a:pt x="1452763" y="62865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702012" y="4381243"/>
            <a:ext cx="4641977" cy="45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2"/>
              </a:lnSpc>
            </a:pPr>
            <a:r>
              <a:rPr lang="en-US" sz="4400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GET IN TOUCH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02012" y="5009057"/>
            <a:ext cx="4641977" cy="62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Thank you for exploring the world of autonomous vehicles. Let’s build a smarter transport system together.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03396" y="6410746"/>
            <a:ext cx="4988808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+123-456-7890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03396" y="7024671"/>
            <a:ext cx="4988808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www.reallygreatsite.com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03396" y="7648405"/>
            <a:ext cx="4988808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hello@reallygreatsite.com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03396" y="8260424"/>
            <a:ext cx="4988808" cy="2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123 Anywhere St., Any City, ST 12345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DAHJBQaCxqI</dc:identifier>
  <dcterms:modified xsi:type="dcterms:W3CDTF">2011-08-01T06:04:30Z</dcterms:modified>
  <cp:revision>1</cp:revision>
  <dc:title>reference.pptx</dc:title>
</cp:coreProperties>
</file>