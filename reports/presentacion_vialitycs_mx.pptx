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52160" y="640080"/>
            <a:ext cx="36576" cy="557784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PITCH ·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RQND Pro Wide"/>
              </a:rPr>
              <a:t>Vialitycs</a:t>
            </a:r>
          </a:p>
          <a:p>
            <a:pPr algn="l"/>
            <a:r>
              <a:rPr sz="7200" b="1">
                <a:solidFill>
                  <a:srgbClr val="FFFFFF"/>
                </a:solidFill>
                <a:latin typeface="RQND Pro Wide"/>
              </a:rPr>
              <a:t>MX.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Fira Code"/>
              </a:rPr>
              <a:t>Actionable intelligence on Mexico's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Fira Code"/>
              </a:rPr>
              <a:t>public road traffic and vehicle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9A9A"/>
                </a:solidFill>
                <a:latin typeface="Fira Code"/>
              </a:rPr>
              <a:t>DATA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640080"/>
            <a:ext cx="5349240" cy="3840480"/>
          </a:xfrm>
          <a:prstGeom prst="rect">
            <a:avLst/>
          </a:prstGeom>
          <a:solidFill>
            <a:srgbClr val="121212"/>
          </a:solidFill>
          <a:ln w="15875">
            <a:solidFill>
              <a:srgbClr val="C1FF72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640080"/>
            <a:ext cx="5349240" cy="3840480"/>
          </a:xfrm>
          <a:prstGeom prst="rect">
            <a:avLst/>
          </a:prstGeom>
          <a:noFill/>
        </p:spPr>
        <p:txBody>
          <a:bodyPr wrap="square" anchor="ctr" lIns="182880" rIns="182880">
            <a:spAutoFit/>
          </a:bodyPr>
          <a:lstStyle/>
          <a:p>
            <a:pPr algn="ctr"/>
            <a:r>
              <a:rPr sz="1600" b="1">
                <a:solidFill>
                  <a:srgbClr val="C1FF72"/>
                </a:solidFill>
                <a:latin typeface="RQND Pro Wide"/>
              </a:rPr>
              <a:t>[ HERO IMAGE / LOGO ]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A9A9A"/>
                </a:solidFill>
                <a:latin typeface="Fira Code"/>
              </a:rPr>
              <a:t>Suggested: traffic render, crash photo or MX map. 1600 × 900 px.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74920"/>
            <a:ext cx="5349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QND Pro Wide"/>
              </a:rPr>
              <a:t>Omar Antonio Chi Bautista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532120"/>
            <a:ext cx="5349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QND Pro Wide"/>
              </a:rPr>
              <a:t>Victor Figueredo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The data exists.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Nobody can use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5029200" cy="3108960"/>
          </a:xfrm>
          <a:prstGeom prst="rect">
            <a:avLst/>
          </a:prstGeom>
          <a:solidFill>
            <a:srgbClr val="121212"/>
          </a:solidFill>
          <a:ln w="15875">
            <a:solidFill>
              <a:srgbClr val="C1FF72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029200" cy="3108960"/>
          </a:xfrm>
          <a:prstGeom prst="rect">
            <a:avLst/>
          </a:prstGeom>
          <a:noFill/>
        </p:spPr>
        <p:txBody>
          <a:bodyPr wrap="square" anchor="ctr" lIns="182880" rIns="182880">
            <a:spAutoFit/>
          </a:bodyPr>
          <a:lstStyle/>
          <a:p>
            <a:pPr algn="ctr"/>
            <a:r>
              <a:rPr sz="1600" b="1">
                <a:solidFill>
                  <a:srgbClr val="C1FF72"/>
                </a:solidFill>
                <a:latin typeface="RQND Pro Wide"/>
              </a:rPr>
              <a:t>[ CRASH / TRAFFIC IMAGE ]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A9A9A"/>
                </a:solidFill>
                <a:latin typeface="Fira Code"/>
              </a:rPr>
              <a:t>To liven things up. Suggested: editorial photo, high contrast, B&amp;W.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3108960"/>
            <a:ext cx="5943600" cy="96012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3108960"/>
            <a:ext cx="73152" cy="96012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327355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C1FF72"/>
                </a:solidFill>
                <a:latin typeface="RQND Pro Wide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40156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years of ATUS data left unused (1997–2024)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4206240"/>
            <a:ext cx="5943600" cy="96012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4206240"/>
            <a:ext cx="73152" cy="96012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437083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C1FF72"/>
                </a:solidFill>
                <a:latin typeface="RQND Pro Wide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49884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states · thousands of municipalities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5303520"/>
            <a:ext cx="5943600" cy="96012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5303520"/>
            <a:ext cx="73152" cy="96012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54681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C1FF72"/>
                </a:solidFill>
                <a:latin typeface="RQND Pro Wide"/>
              </a:rPr>
              <a:t>23/28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59612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files with broken year column (YEAR=1)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02 · WHO FEELS THE PAIN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Who needs these answers?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2697480" cy="32004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2697480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1FF72"/>
                </a:solidFill>
                <a:latin typeface="RQND Pro Wid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QND Pro Wide"/>
              </a:rPr>
              <a:t>Insurers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Size exposure and price policies by state and municipality.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468880"/>
            <a:ext cx="2697480" cy="32004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468880"/>
            <a:ext cx="2697480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1FF72"/>
                </a:solidFill>
                <a:latin typeface="RQND Pro Wid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4747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QND Pro Wide"/>
              </a:rPr>
              <a:t>Local governments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16052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Prioritize road-safety investment with quantitative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468880"/>
            <a:ext cx="2697480" cy="32004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468880"/>
            <a:ext cx="2697480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1FF72"/>
                </a:solidFill>
                <a:latin typeface="RQND Pro Wid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QND Pro Wide"/>
              </a:rPr>
              <a:t>Journalists &amp; NGOs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Ground stories in official figures in minutes, not days.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468880"/>
            <a:ext cx="2697480" cy="32004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2468880"/>
            <a:ext cx="2697480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8346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1FF72"/>
                </a:solidFill>
                <a:latin typeface="RQND Pro Wid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4747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QND Pro Wide"/>
              </a:rPr>
              <a:t>Mobility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16052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Cross sales and fleet trends with crash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03 ·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Ask in plain Spanish.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Get an executive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5669280" cy="77724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1635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C1FF72"/>
                </a:solidFill>
                <a:latin typeface="Fira Code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067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Fira Code"/>
              </a:rPr>
              <a:t>&gt; ¿Qué estados tuvieron más accidentes en 2023?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5669280" cy="260604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73152" cy="260604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C1FF72"/>
                </a:solidFill>
                <a:latin typeface="Fira Code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FF72"/>
                </a:solidFill>
                <a:latin typeface="Fira Code"/>
              </a:rPr>
              <a:t>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160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national 2023 ranking with official figures.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FF72"/>
                </a:solidFill>
                <a:latin typeface="Fira Code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663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top 5 states with real totals.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FF72"/>
                </a:solidFill>
                <a:latin typeface="Fira Code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166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narrative without claiming causality.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FF72"/>
                </a:solidFill>
                <a:latin typeface="Fira Code"/>
              </a:rP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669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ATUS 2022 methodology break.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QND Pro Wide"/>
              </a:rPr>
              <a:t>What Vialitycs MX delivers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5349240" cy="3200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ATUS coverage 1997–2024 by state and municipality.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VMRC national: vehicle sales and active fleet.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Structured response in 4 fixed sections.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Zero numeric hallucinations — pandas computes, the LLM writes.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Working Streamlit web app, ready to extend to API.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04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Vialitycs MX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solidFill>
            <a:srgbClr val="121212"/>
          </a:solidFill>
          <a:ln w="15875">
            <a:solidFill>
              <a:srgbClr val="C1FF72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 anchor="ctr" lIns="182880" rIns="182880">
            <a:spAutoFit/>
          </a:bodyPr>
          <a:lstStyle/>
          <a:p>
            <a:pPr algn="ctr"/>
            <a:r>
              <a:rPr sz="1600" b="1">
                <a:solidFill>
                  <a:srgbClr val="C1FF72"/>
                </a:solidFill>
                <a:latin typeface="RQND Pro Wide"/>
              </a:rPr>
              <a:t>[ INSERT DEMO VIDEO HERE ]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A9A9A"/>
                </a:solidFill>
                <a:latin typeface="Fira Code"/>
              </a:rPr>
              <a:t>Insert &gt; Video &gt; This device. Auto-play recommended.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05 · WHY TRUST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Built to never lie.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611880" cy="301752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1FF72"/>
                </a:solidFill>
                <a:latin typeface="RQND Pro Wid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QND Pro Wide"/>
              </a:rPr>
              <a:t>Never calculates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399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Every metric is computed in pandas on official INEGI data. The model only writes.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468880"/>
            <a:ext cx="3611880" cy="301752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1FF72"/>
                </a:solidFill>
                <a:latin typeface="RQND Pro Wid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6118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QND Pro Wide"/>
              </a:rPr>
              <a:t>Never invents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343399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The LLM only cites what arrives in the prompt. No free access to its memory.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468880"/>
            <a:ext cx="3611880" cy="301752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1FF72"/>
                </a:solidFill>
                <a:latin typeface="RQND Pro Wid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118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RQND Pro Wide"/>
              </a:rPr>
              <a:t>Never claims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399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It speaks of correlation or association. Claiming “cause” is forbidden by design.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C1FF72"/>
                </a:solidFill>
                <a:latin typeface="RQND Pro Wide"/>
              </a:rPr>
              <a:t>“ If the data isn't in INEGI, Vialitycs won't say it. 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06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1627632" cy="182880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1627632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444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User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444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“Top 5 in</a:t>
            </a:r>
          </a:p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2023”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03120" y="3429000"/>
            <a:ext cx="259689" cy="274320"/>
          </a:xfrm>
          <a:prstGeom prst="rightArrow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81097" y="2651760"/>
            <a:ext cx="1627632" cy="182880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81097" y="2651760"/>
            <a:ext cx="1627632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2537" y="2971800"/>
            <a:ext cx="1444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Intent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2537" y="3794760"/>
            <a:ext cx="1444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intent +</a:t>
            </a:r>
          </a:p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slots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27017" y="3429000"/>
            <a:ext cx="259689" cy="274320"/>
          </a:xfrm>
          <a:prstGeom prst="rightArrow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4995" y="2651760"/>
            <a:ext cx="1627632" cy="182880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4995" y="2651760"/>
            <a:ext cx="1627632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6435" y="2971800"/>
            <a:ext cx="1444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Pandas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computation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6435" y="3794760"/>
            <a:ext cx="1444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INEGI</a:t>
            </a:r>
          </a:p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data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50915" y="3429000"/>
            <a:ext cx="259689" cy="274320"/>
          </a:xfrm>
          <a:prstGeom prst="rightArrow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8892" y="2651760"/>
            <a:ext cx="1627632" cy="182880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8892" y="2651760"/>
            <a:ext cx="1627632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0332" y="2971800"/>
            <a:ext cx="1444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Prompt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building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0332" y="3794760"/>
            <a:ext cx="1444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data +</a:t>
            </a:r>
          </a:p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rules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74812" y="3429000"/>
            <a:ext cx="259689" cy="274320"/>
          </a:xfrm>
          <a:prstGeom prst="rightArrow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2790" y="2651760"/>
            <a:ext cx="1627632" cy="182880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2790" y="2651760"/>
            <a:ext cx="1627632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4230" y="2971800"/>
            <a:ext cx="1444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Fine-tuned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4230" y="3794760"/>
            <a:ext cx="1444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Qwen-1.5B</a:t>
            </a:r>
          </a:p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+ LoRA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798710" y="3429000"/>
            <a:ext cx="259689" cy="274320"/>
          </a:xfrm>
          <a:prstGeom prst="rightArrow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76688" y="2651760"/>
            <a:ext cx="1627632" cy="182880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76688" y="2651760"/>
            <a:ext cx="1627632" cy="7315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68128" y="2971800"/>
            <a:ext cx="1444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Executive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RQND Pro Wide"/>
              </a:rPr>
              <a:t>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128" y="3794760"/>
            <a:ext cx="1444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4 standard</a:t>
            </a:r>
          </a:p>
          <a:p>
            <a:pPr algn="ctr"/>
            <a:r>
              <a:rPr sz="900" b="0">
                <a:solidFill>
                  <a:srgbClr val="9A9A9A"/>
                </a:solidFill>
                <a:latin typeface="Fira Code"/>
              </a:rPr>
              <a:t>sections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C1FF72"/>
                </a:solidFill>
                <a:latin typeface="RQND Pro Wide"/>
              </a:rPr>
              <a:t>Numbers come from pandas. The LLM only writes.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07 ·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What can it answer today?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QND Pro Wide"/>
              </a:rPr>
              <a:t>Supported question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5303520" cy="7132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4864" cy="71323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18211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&gt; Top 5 states with the most crashes in 2023.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5303520" cy="7132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" cy="71323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050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&gt; Crash trend in Yucatán between 2015 and 2024.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5303520" cy="7132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54864" cy="71323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82803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&gt; Compare CDMX vs Jalisco in 2022.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5303520" cy="713232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54864" cy="713232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509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&gt; Are vehicle sales linked to crashes?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468880"/>
            <a:ext cx="5349240" cy="3840480"/>
          </a:xfrm>
          <a:prstGeom prst="rect">
            <a:avLst/>
          </a:prstGeom>
          <a:solidFill>
            <a:srgbClr val="121212"/>
          </a:solidFill>
          <a:ln w="15875">
            <a:solidFill>
              <a:srgbClr val="C1FF72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5349240" cy="3840480"/>
          </a:xfrm>
          <a:prstGeom prst="rect">
            <a:avLst/>
          </a:prstGeom>
          <a:noFill/>
        </p:spPr>
        <p:txBody>
          <a:bodyPr wrap="square" anchor="ctr" lIns="182880" rIns="182880">
            <a:spAutoFit/>
          </a:bodyPr>
          <a:lstStyle/>
          <a:p>
            <a:pPr algn="ctr"/>
            <a:r>
              <a:rPr sz="1600" b="1">
                <a:solidFill>
                  <a:srgbClr val="C1FF72"/>
                </a:solidFill>
                <a:latin typeface="RQND Pro Wide"/>
              </a:rPr>
              <a:t>[ APP SCREENSHOTS ]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A9A9A"/>
                </a:solidFill>
                <a:latin typeface="Fira Code"/>
              </a:rPr>
              <a:t>Suggested: 1 prompt screenshot + 1 response screenshot.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Fine-tuning nearly doubles ROUGE-1.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291840" cy="4572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694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Fira Code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2468880"/>
            <a:ext cx="2194560" cy="4572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56946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Fira Code"/>
              </a:rPr>
              <a:t>FLAN-T5 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468880"/>
            <a:ext cx="2560320" cy="4572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5694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Fira Code"/>
              </a:rPr>
              <a:t>Qwen-1.5B vanilla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468880"/>
            <a:ext cx="3200400" cy="4572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56946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Fira Code"/>
              </a:rPr>
              <a:t>Vialitycs (Qwen-LoRA)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329184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Fira Code"/>
              </a:rPr>
              <a:t>ROUGE-1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2926080"/>
            <a:ext cx="219456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302666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0.17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926080"/>
            <a:ext cx="256032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0266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0.38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926080"/>
            <a:ext cx="320040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302666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FF72"/>
                </a:solidFill>
                <a:latin typeface="Fira Code"/>
              </a:rPr>
              <a:t>0.71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329184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838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Fira Code"/>
              </a:rPr>
              <a:t>ROUGE-2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3383280"/>
            <a:ext cx="219456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0.03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383280"/>
            <a:ext cx="256032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34838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0.12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3383280"/>
            <a:ext cx="320040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8386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FF72"/>
                </a:solidFill>
                <a:latin typeface="Fira Code"/>
              </a:rPr>
              <a:t>0.64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40480"/>
            <a:ext cx="329184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9410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Fira Code"/>
              </a:rPr>
              <a:t>ROUGE-L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3840480"/>
            <a:ext cx="219456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94106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0.09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840480"/>
            <a:ext cx="256032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39410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0.23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840480"/>
            <a:ext cx="320040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394106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FF72"/>
                </a:solidFill>
                <a:latin typeface="Fira Code"/>
              </a:rPr>
              <a:t>0.68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97680"/>
            <a:ext cx="329184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3982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Fira Code"/>
              </a:rPr>
              <a:t>Sections present (0–1)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40" y="4297680"/>
            <a:ext cx="219456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6200" y="439826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0.03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4297680"/>
            <a:ext cx="256032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43982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FF72"/>
                </a:solidFill>
                <a:latin typeface="Fira Code"/>
              </a:rPr>
              <a:t>0.95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4297680"/>
            <a:ext cx="320040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39826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0.80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754880"/>
            <a:ext cx="329184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8554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Fira Code"/>
              </a:rPr>
              <a:t>No-causality (correlation)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40" y="4754880"/>
            <a:ext cx="219456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6200" y="485546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1.00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4754880"/>
            <a:ext cx="256032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48554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1.00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4754880"/>
            <a:ext cx="3200400" cy="4572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485546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1.00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212080"/>
            <a:ext cx="329184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3126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Fira Code"/>
              </a:rPr>
              <a:t>Avg length (words)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40" y="5212080"/>
            <a:ext cx="219456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86200" y="531266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124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5212080"/>
            <a:ext cx="256032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531266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161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5212080"/>
            <a:ext cx="3200400" cy="4572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1080" y="531266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ira Code"/>
              </a:rPr>
              <a:t>160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Fira Code"/>
              </a:rPr>
              <a:t>Test set: 42 held-out questions. ROUGE measured without stemmer. Higher is better.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09 ·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Not just an idea — it's already built.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703320" cy="169164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73152" cy="169164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QND Pro Wide"/>
              </a:rPr>
              <a:t>ETL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Fira Code"/>
              </a:rPr>
              <a:t>28 years of ATUS and VMRC, reproducible in one command.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2468880"/>
            <a:ext cx="3703320" cy="169164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2468880"/>
            <a:ext cx="73152" cy="169164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6974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QND Pro Wide"/>
              </a:rPr>
              <a:t>Curated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2461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Fira Code"/>
              </a:rPr>
              <a:t>425 training examples (train · val · test).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4" y="2468880"/>
            <a:ext cx="3703320" cy="169164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4" y="2468880"/>
            <a:ext cx="73152" cy="169164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26974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QND Pro Wide"/>
              </a:rPr>
              <a:t>Own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32461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Fira Code"/>
              </a:rPr>
              <a:t>Qwen2.5-1.5B fine-tuned with QLoRA on Colab.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3703320" cy="169164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43400"/>
            <a:ext cx="73152" cy="169164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QND Pro Wide"/>
              </a:rPr>
              <a:t>Working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Fira Code"/>
              </a:rPr>
              <a:t>End-to-end Streamlit with the model loaded.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4343400"/>
            <a:ext cx="3703320" cy="169164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9392" y="4343400"/>
            <a:ext cx="73152" cy="169164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4572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QND Pro Wide"/>
              </a:rPr>
              <a:t>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512064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Fira Code"/>
              </a:rPr>
              <a:t>Stage-by-stage plan and notes to resume / extend.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1584" y="4343400"/>
            <a:ext cx="3703320" cy="169164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1584" y="4343400"/>
            <a:ext cx="73152" cy="169164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4" y="4572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QND Pro Wide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512064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Fira Code"/>
              </a:rPr>
              <a:t>Independent test set with 6 automated metrics.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10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Where Vialitycs MX is headed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1124712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55064" y="3552444"/>
            <a:ext cx="256032" cy="256032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1FF72"/>
                </a:solidFill>
                <a:latin typeface="RQND Pro Wide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2651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Fira Code"/>
              </a:rPr>
              <a:t>Functional academic MVP with national coverage.</a:t>
            </a:r>
          </a:p>
        </p:txBody>
      </p:sp>
      <p:sp>
        <p:nvSpPr>
          <p:cNvPr id="11" name="Oval 10"/>
          <p:cNvSpPr/>
          <p:nvPr/>
        </p:nvSpPr>
        <p:spPr>
          <a:xfrm>
            <a:off x="4520184" y="3552444"/>
            <a:ext cx="256032" cy="256032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2320" y="26060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1FF72"/>
                </a:solidFill>
                <a:latin typeface="RQND Pro Wide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320" y="4114800"/>
            <a:ext cx="2651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Fira Code"/>
              </a:rPr>
              <a:t>State-level VMRC coverage + DENUE integration.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385304" y="3552444"/>
            <a:ext cx="256032" cy="256032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440" y="26060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1FF72"/>
                </a:solidFill>
                <a:latin typeface="RQND Pro Wide"/>
              </a:rPr>
              <a:t>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440" y="4114800"/>
            <a:ext cx="2651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Fira Code"/>
              </a:rPr>
              <a:t>Export to PDF · REST API · multi-user.</a:t>
            </a:r>
          </a:p>
        </p:txBody>
      </p:sp>
      <p:sp>
        <p:nvSpPr>
          <p:cNvPr id="17" name="Oval 16"/>
          <p:cNvSpPr/>
          <p:nvPr/>
        </p:nvSpPr>
        <p:spPr>
          <a:xfrm>
            <a:off x="10250424" y="3552444"/>
            <a:ext cx="256032" cy="256032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6060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1FF72"/>
                </a:solidFill>
                <a:latin typeface="RQND Pro Wide"/>
              </a:rP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114800"/>
            <a:ext cx="2651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Fira Code"/>
              </a:rPr>
              <a:t>Enterprise version with authentication and SLA.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411480"/>
            <a:ext cx="91440" cy="91440"/>
          </a:xfrm>
          <a:prstGeom prst="ellipse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Fira Code"/>
              </a:rPr>
              <a:t>11 ·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24712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RQND Pro Wide"/>
              </a:rPr>
              <a:t>Open stack, zero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39112"/>
            <a:ext cx="457200" cy="3657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1FF72"/>
                </a:solidFill>
                <a:latin typeface="RQND Pro Wide"/>
              </a:rPr>
              <a:t>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303520" cy="3200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Python · pandas · Streamlit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Hugging Face Transformers · PEFT (LoRA)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Base model Qwen2.5-1.5B-Instruct (Apache 2.0)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Trained on Google Colab T4 (free tier)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1FF72"/>
                </a:solidFill>
                <a:latin typeface="RQND Pro Wide"/>
              </a:rPr>
              <a:t>Business implications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5349240" cy="3200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100% open source — no vendor lock-in.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Local inference on modest hardware (RTX 3060 Ti).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No paid-API dependencies.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C1FF72"/>
                </a:solidFill>
                <a:latin typeface="Fira Code"/>
              </a:rPr>
              <a:t>▍ </a:t>
            </a:r>
            <a:r>
              <a:rPr sz="1200">
                <a:solidFill>
                  <a:srgbClr val="FFFFFF"/>
                </a:solidFill>
                <a:latin typeface="Fira Code"/>
              </a:rPr>
              <a:t>Reproducible: pipeline + training in one command.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Fira Code"/>
              </a:rPr>
              <a:t>DATA PROCESSING · OMAR CHI · VICTOR FIGUEREDO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>
                <a:solidFill>
                  <a:srgbClr val="C1FF72"/>
                </a:solidFill>
                <a:latin typeface="Fira Code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1FF72"/>
                </a:solidFill>
                <a:latin typeface="RQND Pro Wide"/>
              </a:rPr>
              <a:t>VIALITYCS MX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RQND Pro Wide"/>
              </a:rPr>
              <a:t>Public data.</a:t>
            </a:r>
          </a:p>
          <a:p>
            <a:pPr algn="l"/>
            <a:r>
              <a:rPr sz="6400" b="1">
                <a:solidFill>
                  <a:srgbClr val="FFFFFF"/>
                </a:solidFill>
                <a:latin typeface="RQND Pro Wide"/>
              </a:rPr>
              <a:t>Private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206240"/>
            <a:ext cx="640080" cy="5486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1FF72"/>
                </a:solidFill>
                <a:latin typeface="RQND Pro Wide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74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Fira Code"/>
              </a:rPr>
              <a:t>Omar Antonio Chi Bautista  ·  Victor Figueredo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40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Fira Code"/>
              </a:rPr>
              <a:t>Data Processing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3246120" cy="3246120"/>
          </a:xfrm>
          <a:prstGeom prst="rect">
            <a:avLst/>
          </a:prstGeom>
          <a:solidFill>
            <a:srgbClr val="121212"/>
          </a:solidFill>
          <a:ln w="15875">
            <a:solidFill>
              <a:srgbClr val="C1FF72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828800"/>
            <a:ext cx="3246120" cy="3246120"/>
          </a:xfrm>
          <a:prstGeom prst="rect">
            <a:avLst/>
          </a:prstGeom>
          <a:noFill/>
        </p:spPr>
        <p:txBody>
          <a:bodyPr wrap="square" anchor="ctr" lIns="182880" rIns="182880">
            <a:spAutoFit/>
          </a:bodyPr>
          <a:lstStyle/>
          <a:p>
            <a:pPr algn="ctr"/>
            <a:r>
              <a:rPr sz="1600" b="1">
                <a:solidFill>
                  <a:srgbClr val="C1FF72"/>
                </a:solidFill>
                <a:latin typeface="RQND Pro Wide"/>
              </a:rPr>
              <a:t>[ QR / CONTACT ]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A9A9A"/>
                </a:solidFill>
                <a:latin typeface="Fira Code"/>
              </a:rPr>
              <a:t>Insert photo, QR code or repository link.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