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852160" y="640080"/>
            <a:ext cx="36576" cy="557784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1FF72"/>
                </a:solidFill>
                <a:latin typeface="Fira Code"/>
              </a:rPr>
              <a:t>PITCH · MAYO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RQND Pro Wide"/>
              </a:rPr>
              <a:t>Vialitycs</a:t>
            </a:r>
          </a:p>
          <a:p>
            <a:pPr algn="l"/>
            <a:r>
              <a:rPr sz="7200" b="1">
                <a:solidFill>
                  <a:srgbClr val="FFFFFF"/>
                </a:solidFill>
                <a:latin typeface="RQND Pro Wide"/>
              </a:rPr>
              <a:t>MX.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06240"/>
            <a:ext cx="5212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Fira Code"/>
              </a:rPr>
              <a:t>Inteligencia accionable sobre datos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Fira Code"/>
              </a:rPr>
              <a:t>públicos de movilidad y siniestralidad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Fira Code"/>
              </a:rPr>
              <a:t>vial en México.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26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9A9A9A"/>
                </a:solidFill>
                <a:latin typeface="Fira Code"/>
              </a:rPr>
              <a:t>PROCESAMIENTO DE DATOS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640080"/>
            <a:ext cx="5349240" cy="3840480"/>
          </a:xfrm>
          <a:prstGeom prst="rect">
            <a:avLst/>
          </a:prstGeom>
          <a:solidFill>
            <a:srgbClr val="121212"/>
          </a:solidFill>
          <a:ln w="15875">
            <a:solidFill>
              <a:srgbClr val="C1FF72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640080"/>
            <a:ext cx="5349240" cy="3840480"/>
          </a:xfrm>
          <a:prstGeom prst="rect">
            <a:avLst/>
          </a:prstGeom>
          <a:noFill/>
        </p:spPr>
        <p:txBody>
          <a:bodyPr wrap="square" anchor="ctr" lIns="182880" rIns="182880">
            <a:spAutoFit/>
          </a:bodyPr>
          <a:lstStyle/>
          <a:p>
            <a:pPr algn="ctr"/>
            <a:r>
              <a:rPr sz="1600" b="1">
                <a:solidFill>
                  <a:srgbClr val="C1FF72"/>
                </a:solidFill>
                <a:latin typeface="RQND Pro Wide"/>
              </a:rPr>
              <a:t>[ HERO IMAGE / LOGO ]</a:t>
            </a:r>
          </a:p>
          <a:p>
            <a:pPr algn="ctr">
              <a:spcBef>
                <a:spcPts val="600"/>
              </a:spcBef>
            </a:pPr>
            <a:r>
              <a:rPr sz="1000">
                <a:solidFill>
                  <a:srgbClr val="9A9A9A"/>
                </a:solidFill>
                <a:latin typeface="Fira Code"/>
              </a:rPr>
              <a:t>Sugerido: render de tráfico, choque o mapa MX. 1600 × 900 px.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754880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1FF72"/>
                </a:solidFill>
                <a:latin typeface="Fira Code"/>
              </a:rPr>
              <a:t>PRESENTAN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074920"/>
            <a:ext cx="5349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RQND Pro Wide"/>
              </a:rPr>
              <a:t>Omar Antonio Chi Bautista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532120"/>
            <a:ext cx="5349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RQND Pro Wide"/>
              </a:rPr>
              <a:t>Victor Figueredo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RQND Pro Wide"/>
              </a:rPr>
              <a:t>VIALITYCS MX</a:t>
            </a:r>
          </a:p>
        </p:txBody>
      </p:sp>
      <p:sp>
        <p:nvSpPr>
          <p:cNvPr id="3" name="Oval 2"/>
          <p:cNvSpPr/>
          <p:nvPr/>
        </p:nvSpPr>
        <p:spPr>
          <a:xfrm>
            <a:off x="1828800" y="411480"/>
            <a:ext cx="91440" cy="91440"/>
          </a:xfrm>
          <a:prstGeom prst="ellipse">
            <a:avLst/>
          </a:prstGeom>
          <a:solidFill>
            <a:srgbClr val="C1F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1FF72"/>
                </a:solidFill>
                <a:latin typeface="Fira Code"/>
              </a:rPr>
              <a:t>01 · 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24712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RQND Pro Wide"/>
              </a:rPr>
              <a:t>Los datos existen.</a:t>
            </a:r>
          </a:p>
          <a:p>
            <a:pPr algn="l"/>
            <a:r>
              <a:rPr sz="3400" b="1">
                <a:solidFill>
                  <a:srgbClr val="FFFFFF"/>
                </a:solidFill>
                <a:latin typeface="RQND Pro Wide"/>
              </a:rPr>
              <a:t>Nadie los puede usar.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39112"/>
            <a:ext cx="457200" cy="3657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3108960"/>
            <a:ext cx="5029200" cy="3108960"/>
          </a:xfrm>
          <a:prstGeom prst="rect">
            <a:avLst/>
          </a:prstGeom>
          <a:solidFill>
            <a:srgbClr val="121212"/>
          </a:solidFill>
          <a:ln w="15875">
            <a:solidFill>
              <a:srgbClr val="C1FF72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108960"/>
            <a:ext cx="5029200" cy="3108960"/>
          </a:xfrm>
          <a:prstGeom prst="rect">
            <a:avLst/>
          </a:prstGeom>
          <a:noFill/>
        </p:spPr>
        <p:txBody>
          <a:bodyPr wrap="square" anchor="ctr" lIns="182880" rIns="182880">
            <a:spAutoFit/>
          </a:bodyPr>
          <a:lstStyle/>
          <a:p>
            <a:pPr algn="ctr"/>
            <a:r>
              <a:rPr sz="1600" b="1">
                <a:solidFill>
                  <a:srgbClr val="C1FF72"/>
                </a:solidFill>
                <a:latin typeface="RQND Pro Wide"/>
              </a:rPr>
              <a:t>[ IMAGEN DE CHOQUE / TRÁFICO ]</a:t>
            </a:r>
          </a:p>
          <a:p>
            <a:pPr algn="ctr">
              <a:spcBef>
                <a:spcPts val="600"/>
              </a:spcBef>
            </a:pPr>
            <a:r>
              <a:rPr sz="1000">
                <a:solidFill>
                  <a:srgbClr val="9A9A9A"/>
                </a:solidFill>
                <a:latin typeface="Fira Code"/>
              </a:rPr>
              <a:t>Para amenizar. Sugerido: foto editorial, alto contraste, en blanco y negro.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720" y="3108960"/>
            <a:ext cx="5943600" cy="96012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720" y="3108960"/>
            <a:ext cx="73152" cy="96012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89320" y="3273552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C1FF72"/>
                </a:solidFill>
                <a:latin typeface="RQND Pro Wide"/>
              </a:rPr>
              <a:t>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3401568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años de datos ATUS sin explotar (1997–2024)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4206240"/>
            <a:ext cx="5943600" cy="96012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60720" y="4206240"/>
            <a:ext cx="73152" cy="96012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4370832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C1FF72"/>
                </a:solidFill>
                <a:latin typeface="RQND Pro Wide"/>
              </a:rPr>
              <a:t>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4498848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entidades · miles de municipios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720" y="5303520"/>
            <a:ext cx="5943600" cy="96012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720" y="5303520"/>
            <a:ext cx="73152" cy="96012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5468112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C1FF72"/>
                </a:solidFill>
                <a:latin typeface="RQND Pro Wide"/>
              </a:rPr>
              <a:t>23/28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596128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archivos con bug de año (ANIO=1)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9A9A9A"/>
                </a:solidFill>
                <a:latin typeface="Fira Code"/>
              </a:rPr>
              <a:t>PROCESAMIENTO DE DATOS · OMAR CHI · VICTOR FIGUEREDO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65392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1">
                <a:solidFill>
                  <a:srgbClr val="C1FF72"/>
                </a:solidFill>
                <a:latin typeface="Fira Code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RQND Pro Wide"/>
              </a:rPr>
              <a:t>VIALITYCS MX</a:t>
            </a:r>
          </a:p>
        </p:txBody>
      </p:sp>
      <p:sp>
        <p:nvSpPr>
          <p:cNvPr id="3" name="Oval 2"/>
          <p:cNvSpPr/>
          <p:nvPr/>
        </p:nvSpPr>
        <p:spPr>
          <a:xfrm>
            <a:off x="1828800" y="411480"/>
            <a:ext cx="91440" cy="91440"/>
          </a:xfrm>
          <a:prstGeom prst="ellipse">
            <a:avLst/>
          </a:prstGeom>
          <a:solidFill>
            <a:srgbClr val="C1F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1FF72"/>
                </a:solidFill>
                <a:latin typeface="Fira Code"/>
              </a:rPr>
              <a:t>02 · A QUIÉN LE DUELE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24712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RQND Pro Wide"/>
              </a:rPr>
              <a:t>¿Quién necesita estas respuestas?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39112"/>
            <a:ext cx="457200" cy="3657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2697480" cy="32004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468880"/>
            <a:ext cx="2697480" cy="73152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C1FF72"/>
                </a:solidFill>
                <a:latin typeface="RQND Pro Wide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74720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RQND Pro Wide"/>
              </a:rPr>
              <a:t>Aseguradoras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60520"/>
            <a:ext cx="2148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Dimensionar exposición y tarificar pólizas por estado y municipio.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2468880"/>
            <a:ext cx="2697480" cy="32004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2468880"/>
            <a:ext cx="2697480" cy="73152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283464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C1FF72"/>
                </a:solidFill>
                <a:latin typeface="RQND Pro Wide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474720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RQND Pro Wide"/>
              </a:rPr>
              <a:t>Gobiernos locales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160520"/>
            <a:ext cx="2148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Priorizar inversión en seguridad vial con evidencia cuantitativa.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2468880"/>
            <a:ext cx="2697480" cy="32004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2468880"/>
            <a:ext cx="2697480" cy="73152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83464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C1FF72"/>
                </a:solidFill>
                <a:latin typeface="RQND Pro Wide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474720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RQND Pro Wide"/>
              </a:rPr>
              <a:t>Periodistas y OSC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160520"/>
            <a:ext cx="2148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Contextualizar reportajes con cifras oficiales en minutos, no días.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1120" y="2468880"/>
            <a:ext cx="2697480" cy="32004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468880"/>
            <a:ext cx="2697480" cy="73152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83464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C1FF72"/>
                </a:solidFill>
                <a:latin typeface="RQND Pro Wide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3474720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RQND Pro Wide"/>
              </a:rPr>
              <a:t>Equipos de movilidad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4160520"/>
            <a:ext cx="2148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Cruzar tendencias de ventas y parque vehicular con siniestralidad.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9A9A9A"/>
                </a:solidFill>
                <a:latin typeface="Fira Code"/>
              </a:rPr>
              <a:t>PROCESAMIENTO DE DATOS · OMAR CHI · VICTOR FIGUEREDO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565392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1">
                <a:solidFill>
                  <a:srgbClr val="C1FF72"/>
                </a:solidFill>
                <a:latin typeface="Fira Code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RQND Pro Wide"/>
              </a:rPr>
              <a:t>VIALITYCS MX</a:t>
            </a:r>
          </a:p>
        </p:txBody>
      </p:sp>
      <p:sp>
        <p:nvSpPr>
          <p:cNvPr id="3" name="Oval 2"/>
          <p:cNvSpPr/>
          <p:nvPr/>
        </p:nvSpPr>
        <p:spPr>
          <a:xfrm>
            <a:off x="1828800" y="411480"/>
            <a:ext cx="91440" cy="91440"/>
          </a:xfrm>
          <a:prstGeom prst="ellipse">
            <a:avLst/>
          </a:prstGeom>
          <a:solidFill>
            <a:srgbClr val="C1F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1FF72"/>
                </a:solidFill>
                <a:latin typeface="Fira Code"/>
              </a:rPr>
              <a:t>03 · LA SOLUCIÓN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24712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RQND Pro Wide"/>
              </a:rPr>
              <a:t>Pregunta en español.</a:t>
            </a:r>
          </a:p>
          <a:p>
            <a:pPr algn="l"/>
            <a:r>
              <a:rPr sz="3400" b="1">
                <a:solidFill>
                  <a:srgbClr val="FFFFFF"/>
                </a:solidFill>
                <a:latin typeface="RQND Pro Wide"/>
              </a:rPr>
              <a:t>Recibe un análisis ejecutivo.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39112"/>
            <a:ext cx="457200" cy="3657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5669280" cy="77724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81635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C1FF72"/>
                </a:solidFill>
                <a:latin typeface="Fira Code"/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90672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Fira Code"/>
              </a:rPr>
              <a:t>&gt; ¿Qué estados tuvieron más accidentes en 2023?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57600"/>
            <a:ext cx="5669280" cy="260604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57600"/>
            <a:ext cx="73152" cy="260604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79476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C1FF72"/>
                </a:solidFill>
                <a:latin typeface="Fira Code"/>
              </a:rPr>
              <a:t>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6052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1FF72"/>
                </a:solidFill>
                <a:latin typeface="Fira Code"/>
              </a:rPr>
              <a:t>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41605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ranking nacional 2023 con cifras oficiales.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1FF72"/>
                </a:solidFill>
                <a:latin typeface="Fira Code"/>
              </a:rPr>
              <a:t>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6634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top 5 estados con totales reales.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6636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1FF72"/>
                </a:solidFill>
                <a:latin typeface="Fira Code"/>
              </a:rPr>
              <a:t>Interpretación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51663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lectura sin afirmar causalidad.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66928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1FF72"/>
                </a:solidFill>
                <a:latin typeface="Fira Code"/>
              </a:rPr>
              <a:t>Limitaciones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56692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salto metodológico ATUS 2022.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9748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RQND Pro Wide"/>
              </a:rPr>
              <a:t>Lo que entrega Vialitycs MX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337560"/>
            <a:ext cx="5349240" cy="32004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200" b="1">
                <a:solidFill>
                  <a:srgbClr val="C1FF72"/>
                </a:solidFill>
                <a:latin typeface="Fira Code"/>
              </a:rPr>
              <a:t>▍ </a:t>
            </a:r>
            <a:r>
              <a:rPr sz="1200">
                <a:solidFill>
                  <a:srgbClr val="FFFFFF"/>
                </a:solidFill>
                <a:latin typeface="Fira Code"/>
              </a:rPr>
              <a:t>Cobertura ATUS 1997–2024 por entidad y municipio.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200" b="1">
                <a:solidFill>
                  <a:srgbClr val="C1FF72"/>
                </a:solidFill>
                <a:latin typeface="Fira Code"/>
              </a:rPr>
              <a:t>▍ </a:t>
            </a:r>
            <a:r>
              <a:rPr sz="1200">
                <a:solidFill>
                  <a:srgbClr val="FFFFFF"/>
                </a:solidFill>
                <a:latin typeface="Fira Code"/>
              </a:rPr>
              <a:t>VMRC nacional: ventas y parque vehicular.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200" b="1">
                <a:solidFill>
                  <a:srgbClr val="C1FF72"/>
                </a:solidFill>
                <a:latin typeface="Fira Code"/>
              </a:rPr>
              <a:t>▍ </a:t>
            </a:r>
            <a:r>
              <a:rPr sz="1200">
                <a:solidFill>
                  <a:srgbClr val="FFFFFF"/>
                </a:solidFill>
                <a:latin typeface="Fira Code"/>
              </a:rPr>
              <a:t>Respuesta estructurada en 4 secciones fijas.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200" b="1">
                <a:solidFill>
                  <a:srgbClr val="C1FF72"/>
                </a:solidFill>
                <a:latin typeface="Fira Code"/>
              </a:rPr>
              <a:t>▍ </a:t>
            </a:r>
            <a:r>
              <a:rPr sz="1200">
                <a:solidFill>
                  <a:srgbClr val="FFFFFF"/>
                </a:solidFill>
                <a:latin typeface="Fira Code"/>
              </a:rPr>
              <a:t>Cero alucinaciones numéricas — pandas calcula, LLM redacta.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200" b="1">
                <a:solidFill>
                  <a:srgbClr val="C1FF72"/>
                </a:solidFill>
                <a:latin typeface="Fira Code"/>
              </a:rPr>
              <a:t>▍ </a:t>
            </a:r>
            <a:r>
              <a:rPr sz="1200">
                <a:solidFill>
                  <a:srgbClr val="FFFFFF"/>
                </a:solidFill>
                <a:latin typeface="Fira Code"/>
              </a:rPr>
              <a:t>App web Streamlit lista, extensible a API.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9A9A9A"/>
                </a:solidFill>
                <a:latin typeface="Fira Code"/>
              </a:rPr>
              <a:t>PROCESAMIENTO DE DATOS · OMAR CHI · VICTOR FIGUEREDO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565392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1">
                <a:solidFill>
                  <a:srgbClr val="C1FF72"/>
                </a:solidFill>
                <a:latin typeface="Fira Code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RQND Pro Wide"/>
              </a:rPr>
              <a:t>VIALITYCS MX</a:t>
            </a:r>
          </a:p>
        </p:txBody>
      </p:sp>
      <p:sp>
        <p:nvSpPr>
          <p:cNvPr id="3" name="Oval 2"/>
          <p:cNvSpPr/>
          <p:nvPr/>
        </p:nvSpPr>
        <p:spPr>
          <a:xfrm>
            <a:off x="1828800" y="411480"/>
            <a:ext cx="91440" cy="91440"/>
          </a:xfrm>
          <a:prstGeom prst="ellipse">
            <a:avLst/>
          </a:prstGeom>
          <a:solidFill>
            <a:srgbClr val="C1F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1FF72"/>
                </a:solidFill>
                <a:latin typeface="Fira Code"/>
              </a:rPr>
              <a:t>04 ·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24712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RQND Pro Wide"/>
              </a:rPr>
              <a:t>Vialitycs MX en acción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39112"/>
            <a:ext cx="457200" cy="3657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194560"/>
            <a:ext cx="10332720" cy="4114800"/>
          </a:xfrm>
          <a:prstGeom prst="rect">
            <a:avLst/>
          </a:prstGeom>
          <a:solidFill>
            <a:srgbClr val="121212"/>
          </a:solidFill>
          <a:ln w="15875">
            <a:solidFill>
              <a:srgbClr val="C1FF72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332720" cy="4114800"/>
          </a:xfrm>
          <a:prstGeom prst="rect">
            <a:avLst/>
          </a:prstGeom>
          <a:noFill/>
        </p:spPr>
        <p:txBody>
          <a:bodyPr wrap="square" anchor="ctr" lIns="182880" rIns="182880">
            <a:spAutoFit/>
          </a:bodyPr>
          <a:lstStyle/>
          <a:p>
            <a:pPr algn="ctr"/>
            <a:r>
              <a:rPr sz="1600" b="1">
                <a:solidFill>
                  <a:srgbClr val="C1FF72"/>
                </a:solidFill>
                <a:latin typeface="RQND Pro Wide"/>
              </a:rPr>
              <a:t>[ INSERTA AQUÍ EL VIDEO DEMO ]</a:t>
            </a:r>
          </a:p>
          <a:p>
            <a:pPr algn="ctr">
              <a:spcBef>
                <a:spcPts val="600"/>
              </a:spcBef>
            </a:pPr>
            <a:r>
              <a:rPr sz="1000">
                <a:solidFill>
                  <a:srgbClr val="9A9A9A"/>
                </a:solidFill>
                <a:latin typeface="Fira Code"/>
              </a:rPr>
              <a:t>Insertar &gt; Video &gt; Este dispositivo. Reproducción automática recomendada.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9A9A9A"/>
                </a:solidFill>
                <a:latin typeface="Fira Code"/>
              </a:rPr>
              <a:t>PROCESAMIENTO DE DATOS · OMAR CHI · VICTOR FIGUEREDO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65392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1">
                <a:solidFill>
                  <a:srgbClr val="C1FF72"/>
                </a:solidFill>
                <a:latin typeface="Fira Code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RQND Pro Wide"/>
              </a:rPr>
              <a:t>VIALITYCS MX</a:t>
            </a:r>
          </a:p>
        </p:txBody>
      </p:sp>
      <p:sp>
        <p:nvSpPr>
          <p:cNvPr id="3" name="Oval 2"/>
          <p:cNvSpPr/>
          <p:nvPr/>
        </p:nvSpPr>
        <p:spPr>
          <a:xfrm>
            <a:off x="1828800" y="411480"/>
            <a:ext cx="91440" cy="91440"/>
          </a:xfrm>
          <a:prstGeom prst="ellipse">
            <a:avLst/>
          </a:prstGeom>
          <a:solidFill>
            <a:srgbClr val="C1F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1FF72"/>
                </a:solidFill>
                <a:latin typeface="Fira Code"/>
              </a:rPr>
              <a:t>05 · POR QUÉ CONFIAR EN LAS CIFRAS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24712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RQND Pro Wide"/>
              </a:rPr>
              <a:t>Diseñado para no mentir.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39112"/>
            <a:ext cx="457200" cy="3657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3611880" cy="3017520"/>
          </a:xfrm>
          <a:prstGeom prst="rect">
            <a:avLst/>
          </a:prstGeom>
          <a:solidFill>
            <a:srgbClr val="121212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C1FF72"/>
                </a:solidFill>
                <a:latin typeface="RQND Pro Wid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118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RQND Pro Wide"/>
              </a:rPr>
              <a:t>Nunca calcula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43399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Todas las métricas se computan en pandas con datos oficiales. El modelo solo redacta.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2468880"/>
            <a:ext cx="3611880" cy="3017520"/>
          </a:xfrm>
          <a:prstGeom prst="rect">
            <a:avLst/>
          </a:prstGeom>
          <a:solidFill>
            <a:srgbClr val="121212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C1FF72"/>
                </a:solidFill>
                <a:latin typeface="RQND Pro Wide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6118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RQND Pro Wide"/>
              </a:rPr>
              <a:t>Nunca inventa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4343399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El LLM solo cita lo que recibe en el prompt. Sin acceso libre a su memoria.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468880"/>
            <a:ext cx="3611880" cy="3017520"/>
          </a:xfrm>
          <a:prstGeom prst="rect">
            <a:avLst/>
          </a:prstGeom>
          <a:solidFill>
            <a:srgbClr val="121212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74320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C1FF72"/>
                </a:solidFill>
                <a:latin typeface="RQND Pro Wide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6118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RQND Pro Wide"/>
              </a:rPr>
              <a:t>Nunca afirma causa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4343399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Habla de correlación o asociación. Está prohibido por diseño afirmar “causa”.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1FF72"/>
                </a:solidFill>
                <a:latin typeface="RQND Pro Wide"/>
              </a:rPr>
              <a:t>“ Si el dato no está en INEGI, Vialitycs no lo dice. 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9A9A9A"/>
                </a:solidFill>
                <a:latin typeface="Fira Code"/>
              </a:rPr>
              <a:t>PROCESAMIENTO DE DATOS · OMAR CHI · VICTOR FIGUEREDO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565392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1">
                <a:solidFill>
                  <a:srgbClr val="C1FF72"/>
                </a:solidFill>
                <a:latin typeface="Fira Code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RQND Pro Wide"/>
              </a:rPr>
              <a:t>VIALITYCS MX</a:t>
            </a:r>
          </a:p>
        </p:txBody>
      </p:sp>
      <p:sp>
        <p:nvSpPr>
          <p:cNvPr id="3" name="Oval 2"/>
          <p:cNvSpPr/>
          <p:nvPr/>
        </p:nvSpPr>
        <p:spPr>
          <a:xfrm>
            <a:off x="1828800" y="411480"/>
            <a:ext cx="91440" cy="91440"/>
          </a:xfrm>
          <a:prstGeom prst="ellipse">
            <a:avLst/>
          </a:prstGeom>
          <a:solidFill>
            <a:srgbClr val="C1F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1FF72"/>
                </a:solidFill>
                <a:latin typeface="Fira Code"/>
              </a:rPr>
              <a:t>06 · 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24712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RQND Pro Wide"/>
              </a:rPr>
              <a:t>Cómo funciona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39112"/>
            <a:ext cx="457200" cy="3657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651760"/>
            <a:ext cx="1627632" cy="1828800"/>
          </a:xfrm>
          <a:prstGeom prst="rect">
            <a:avLst/>
          </a:prstGeom>
          <a:solidFill>
            <a:srgbClr val="121212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1627632" cy="73152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14447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RQND Pro Wide"/>
              </a:rPr>
              <a:t>Pregunta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RQND Pro Wide"/>
              </a:rPr>
              <a:t>en español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9476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9A9A9A"/>
                </a:solidFill>
                <a:latin typeface="Fira Code"/>
              </a:rPr>
              <a:t>“Top 5 en</a:t>
            </a:r>
          </a:p>
          <a:p>
            <a:pPr algn="ctr"/>
            <a:r>
              <a:rPr sz="900" b="0">
                <a:solidFill>
                  <a:srgbClr val="9A9A9A"/>
                </a:solidFill>
                <a:latin typeface="Fira Code"/>
              </a:rPr>
              <a:t>2023”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103120" y="3429000"/>
            <a:ext cx="259689" cy="274320"/>
          </a:xfrm>
          <a:prstGeom prst="rightArrow">
            <a:avLst/>
          </a:prstGeom>
          <a:solidFill>
            <a:srgbClr val="C1F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81097" y="2651760"/>
            <a:ext cx="1627632" cy="1828800"/>
          </a:xfrm>
          <a:prstGeom prst="rect">
            <a:avLst/>
          </a:prstGeom>
          <a:solidFill>
            <a:srgbClr val="121212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81097" y="2651760"/>
            <a:ext cx="1627632" cy="73152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72537" y="2971800"/>
            <a:ext cx="14447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RQND Pro Wide"/>
              </a:rPr>
              <a:t>Detección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RQND Pro Wide"/>
              </a:rPr>
              <a:t>intención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72537" y="379476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9A9A9A"/>
                </a:solidFill>
                <a:latin typeface="Fira Code"/>
              </a:rPr>
              <a:t>intent +</a:t>
            </a:r>
          </a:p>
          <a:p>
            <a:pPr algn="ctr"/>
            <a:r>
              <a:rPr sz="900" b="0">
                <a:solidFill>
                  <a:srgbClr val="9A9A9A"/>
                </a:solidFill>
                <a:latin typeface="Fira Code"/>
              </a:rPr>
              <a:t>slots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27017" y="3429000"/>
            <a:ext cx="259689" cy="274320"/>
          </a:xfrm>
          <a:prstGeom prst="rightArrow">
            <a:avLst/>
          </a:prstGeom>
          <a:solidFill>
            <a:srgbClr val="C1F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4995" y="2651760"/>
            <a:ext cx="1627632" cy="1828800"/>
          </a:xfrm>
          <a:prstGeom prst="rect">
            <a:avLst/>
          </a:prstGeom>
          <a:solidFill>
            <a:srgbClr val="121212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4995" y="2651760"/>
            <a:ext cx="1627632" cy="73152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6435" y="2971800"/>
            <a:ext cx="14447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RQND Pro Wide"/>
              </a:rPr>
              <a:t>Cálculo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RQND Pro Wide"/>
              </a:rPr>
              <a:t>en pandas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6435" y="379476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9A9A9A"/>
                </a:solidFill>
                <a:latin typeface="Fira Code"/>
              </a:rPr>
              <a:t>datos</a:t>
            </a:r>
          </a:p>
          <a:p>
            <a:pPr algn="ctr"/>
            <a:r>
              <a:rPr sz="900" b="0">
                <a:solidFill>
                  <a:srgbClr val="9A9A9A"/>
                </a:solidFill>
                <a:latin typeface="Fira Code"/>
              </a:rPr>
              <a:t>INEGI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950915" y="3429000"/>
            <a:ext cx="259689" cy="274320"/>
          </a:xfrm>
          <a:prstGeom prst="rightArrow">
            <a:avLst/>
          </a:prstGeom>
          <a:solidFill>
            <a:srgbClr val="C1F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8892" y="2651760"/>
            <a:ext cx="1627632" cy="1828800"/>
          </a:xfrm>
          <a:prstGeom prst="rect">
            <a:avLst/>
          </a:prstGeom>
          <a:solidFill>
            <a:srgbClr val="121212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8892" y="2651760"/>
            <a:ext cx="1627632" cy="73152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20332" y="2971800"/>
            <a:ext cx="14447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RQND Pro Wide"/>
              </a:rPr>
              <a:t>Construcción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RQND Pro Wide"/>
              </a:rPr>
              <a:t>de prompt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0332" y="379476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9A9A9A"/>
                </a:solidFill>
                <a:latin typeface="Fira Code"/>
              </a:rPr>
              <a:t>datos +</a:t>
            </a:r>
          </a:p>
          <a:p>
            <a:pPr algn="ctr"/>
            <a:r>
              <a:rPr sz="900" b="0">
                <a:solidFill>
                  <a:srgbClr val="9A9A9A"/>
                </a:solidFill>
                <a:latin typeface="Fira Code"/>
              </a:rPr>
              <a:t>instrucciones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874812" y="3429000"/>
            <a:ext cx="259689" cy="274320"/>
          </a:xfrm>
          <a:prstGeom prst="rightArrow">
            <a:avLst/>
          </a:prstGeom>
          <a:solidFill>
            <a:srgbClr val="C1F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52790" y="2651760"/>
            <a:ext cx="1627632" cy="1828800"/>
          </a:xfrm>
          <a:prstGeom prst="rect">
            <a:avLst/>
          </a:prstGeom>
          <a:solidFill>
            <a:srgbClr val="121212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52790" y="2651760"/>
            <a:ext cx="1627632" cy="73152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44230" y="2971800"/>
            <a:ext cx="14447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RQND Pro Wide"/>
              </a:rPr>
              <a:t>LLM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RQND Pro Wide"/>
              </a:rPr>
              <a:t>fine-tuneado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4230" y="379476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9A9A9A"/>
                </a:solidFill>
                <a:latin typeface="Fira Code"/>
              </a:rPr>
              <a:t>Qwen-1.5B</a:t>
            </a:r>
          </a:p>
          <a:p>
            <a:pPr algn="ctr"/>
            <a:r>
              <a:rPr sz="900" b="0">
                <a:solidFill>
                  <a:srgbClr val="9A9A9A"/>
                </a:solidFill>
                <a:latin typeface="Fira Code"/>
              </a:rPr>
              <a:t>+ LoRA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9798710" y="3429000"/>
            <a:ext cx="259689" cy="274320"/>
          </a:xfrm>
          <a:prstGeom prst="rightArrow">
            <a:avLst/>
          </a:prstGeom>
          <a:solidFill>
            <a:srgbClr val="C1F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76688" y="2651760"/>
            <a:ext cx="1627632" cy="1828800"/>
          </a:xfrm>
          <a:prstGeom prst="rect">
            <a:avLst/>
          </a:prstGeom>
          <a:solidFill>
            <a:srgbClr val="121212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76688" y="2651760"/>
            <a:ext cx="1627632" cy="73152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68128" y="2971800"/>
            <a:ext cx="14447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RQND Pro Wide"/>
              </a:rPr>
              <a:t>Respuesta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RQND Pro Wide"/>
              </a:rPr>
              <a:t>ejecutiva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68128" y="379476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9A9A9A"/>
                </a:solidFill>
                <a:latin typeface="Fira Code"/>
              </a:rPr>
              <a:t>4 secciones</a:t>
            </a:r>
          </a:p>
          <a:p>
            <a:pPr algn="ctr"/>
            <a:r>
              <a:rPr sz="900" b="0">
                <a:solidFill>
                  <a:srgbClr val="9A9A9A"/>
                </a:solidFill>
                <a:latin typeface="Fira Code"/>
              </a:rPr>
              <a:t>estándar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1FF72"/>
                </a:solidFill>
                <a:latin typeface="RQND Pro Wide"/>
              </a:rPr>
              <a:t>Las cifras nacen en pandas. El LLM solo redacta.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9A9A9A"/>
                </a:solidFill>
                <a:latin typeface="Fira Code"/>
              </a:rPr>
              <a:t>PROCESAMIENTO DE DATOS · OMAR CHI · VICTOR FIGUEREDO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565392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1">
                <a:solidFill>
                  <a:srgbClr val="C1FF72"/>
                </a:solidFill>
                <a:latin typeface="Fira Code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RQND Pro Wide"/>
              </a:rPr>
              <a:t>VIALITYCS MX</a:t>
            </a:r>
          </a:p>
        </p:txBody>
      </p:sp>
      <p:sp>
        <p:nvSpPr>
          <p:cNvPr id="3" name="Oval 2"/>
          <p:cNvSpPr/>
          <p:nvPr/>
        </p:nvSpPr>
        <p:spPr>
          <a:xfrm>
            <a:off x="1828800" y="411480"/>
            <a:ext cx="91440" cy="91440"/>
          </a:xfrm>
          <a:prstGeom prst="ellipse">
            <a:avLst/>
          </a:prstGeom>
          <a:solidFill>
            <a:srgbClr val="C1F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1FF72"/>
                </a:solidFill>
                <a:latin typeface="Fira Code"/>
              </a:rPr>
              <a:t>07 · CASOS DE USO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24712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RQND Pro Wide"/>
              </a:rPr>
              <a:t>¿Qué puede responder hoy?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39112"/>
            <a:ext cx="457200" cy="3657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RQND Pro Wide"/>
              </a:rPr>
              <a:t>Preguntas tipo soportadas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017520"/>
            <a:ext cx="5303520" cy="7132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017520"/>
            <a:ext cx="54864" cy="713232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182112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&gt; Top 5 estados con más accidentes en 2023.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5303520" cy="7132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840480"/>
            <a:ext cx="54864" cy="713232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4005072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&gt; Tendencia de accidentes en Yucatán entre 2015 y 2024.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663440"/>
            <a:ext cx="5303520" cy="7132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663440"/>
            <a:ext cx="54864" cy="713232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4828032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&gt; Comparar CDMX vs Jalisco en 2022.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486400"/>
            <a:ext cx="5303520" cy="7132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486400"/>
            <a:ext cx="54864" cy="713232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5650992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&gt; ¿Las ventas de vehículos se relacionan con los accidentes?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468880"/>
            <a:ext cx="5349240" cy="3840480"/>
          </a:xfrm>
          <a:prstGeom prst="rect">
            <a:avLst/>
          </a:prstGeom>
          <a:solidFill>
            <a:srgbClr val="121212"/>
          </a:solidFill>
          <a:ln w="15875">
            <a:solidFill>
              <a:srgbClr val="C1FF72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2468880"/>
            <a:ext cx="5349240" cy="3840480"/>
          </a:xfrm>
          <a:prstGeom prst="rect">
            <a:avLst/>
          </a:prstGeom>
          <a:noFill/>
        </p:spPr>
        <p:txBody>
          <a:bodyPr wrap="square" anchor="ctr" lIns="182880" rIns="182880">
            <a:spAutoFit/>
          </a:bodyPr>
          <a:lstStyle/>
          <a:p>
            <a:pPr algn="ctr"/>
            <a:r>
              <a:rPr sz="1600" b="1">
                <a:solidFill>
                  <a:srgbClr val="C1FF72"/>
                </a:solidFill>
                <a:latin typeface="RQND Pro Wide"/>
              </a:rPr>
              <a:t>[ SCREENSHOTS DE LA APP ]</a:t>
            </a:r>
          </a:p>
          <a:p>
            <a:pPr algn="ctr">
              <a:spcBef>
                <a:spcPts val="600"/>
              </a:spcBef>
            </a:pPr>
            <a:r>
              <a:rPr sz="1000">
                <a:solidFill>
                  <a:srgbClr val="9A9A9A"/>
                </a:solidFill>
                <a:latin typeface="Fira Code"/>
              </a:rPr>
              <a:t>Sugerido: 1 captura del prompt + 1 captura de la respuesta.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9A9A9A"/>
                </a:solidFill>
                <a:latin typeface="Fira Code"/>
              </a:rPr>
              <a:t>PROCESAMIENTO DE DATOS · OMAR CHI · VICTOR FIGUEREDO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65392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1">
                <a:solidFill>
                  <a:srgbClr val="C1FF72"/>
                </a:solidFill>
                <a:latin typeface="Fira Code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RQND Pro Wide"/>
              </a:rPr>
              <a:t>VIALITYCS MX</a:t>
            </a:r>
          </a:p>
        </p:txBody>
      </p:sp>
      <p:sp>
        <p:nvSpPr>
          <p:cNvPr id="3" name="Oval 2"/>
          <p:cNvSpPr/>
          <p:nvPr/>
        </p:nvSpPr>
        <p:spPr>
          <a:xfrm>
            <a:off x="1828800" y="411480"/>
            <a:ext cx="91440" cy="91440"/>
          </a:xfrm>
          <a:prstGeom prst="ellipse">
            <a:avLst/>
          </a:prstGeom>
          <a:solidFill>
            <a:srgbClr val="C1F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1FF72"/>
                </a:solidFill>
                <a:latin typeface="Fira Code"/>
              </a:rPr>
              <a:t>08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24712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RQND Pro Wide"/>
              </a:rPr>
              <a:t>El fine-tune supera a los baselines.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39112"/>
            <a:ext cx="457200" cy="3657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3291840" cy="4572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569464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Fira Code"/>
              </a:rPr>
              <a:t>Métrica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3749040" y="2468880"/>
            <a:ext cx="2194560" cy="4572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2569464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Fira Code"/>
              </a:rPr>
              <a:t>FLAN-T5 base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2468880"/>
            <a:ext cx="2560320" cy="4572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569464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Fira Code"/>
              </a:rPr>
              <a:t>Qwen-1.5B vanilla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2468880"/>
            <a:ext cx="3200400" cy="4572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41080" y="256946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Fira Code"/>
              </a:rPr>
              <a:t>Vialitycs (Qwen-LoRA)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26080"/>
            <a:ext cx="3291840" cy="4572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ROUGE-1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49040" y="2926080"/>
            <a:ext cx="2194560" cy="4572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86200" y="3026664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2926080"/>
            <a:ext cx="2560320" cy="4572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26664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926080"/>
            <a:ext cx="3200400" cy="4572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41080" y="302666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1FF72"/>
                </a:solidFill>
                <a:latin typeface="Fira Code"/>
              </a:rPr>
              <a:t>0.71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383280"/>
            <a:ext cx="3291840" cy="45720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483864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ROUGE-2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49040" y="3383280"/>
            <a:ext cx="2194560" cy="45720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3383280"/>
            <a:ext cx="2560320" cy="45720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3483864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03920" y="3383280"/>
            <a:ext cx="3200400" cy="45720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41080" y="348386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1FF72"/>
                </a:solidFill>
                <a:latin typeface="Fira Code"/>
              </a:rPr>
              <a:t>0.64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840480"/>
            <a:ext cx="3291840" cy="4572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941064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ROUGE-L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3840480"/>
            <a:ext cx="2194560" cy="4572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86200" y="3941064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3840480"/>
            <a:ext cx="2560320" cy="4572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80760" y="3941064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03920" y="3840480"/>
            <a:ext cx="3200400" cy="4572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41080" y="394106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1FF72"/>
                </a:solidFill>
                <a:latin typeface="Fira Code"/>
              </a:rPr>
              <a:t>0.68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297680"/>
            <a:ext cx="3291840" cy="45720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4398264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Secciones presentes (0–1)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49040" y="4297680"/>
            <a:ext cx="2194560" cy="45720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86200" y="4398264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0" y="4297680"/>
            <a:ext cx="2560320" cy="45720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60" y="4398264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3920" y="4297680"/>
            <a:ext cx="3200400" cy="45720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41080" y="439826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1FF72"/>
                </a:solidFill>
                <a:latin typeface="Fira Code"/>
              </a:rPr>
              <a:t>0.80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754880"/>
            <a:ext cx="3291840" cy="4572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4855464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No-causalidad (cruce)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749040" y="4754880"/>
            <a:ext cx="2194560" cy="4572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86200" y="4855464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43600" y="4754880"/>
            <a:ext cx="2560320" cy="4572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80760" y="4855464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03920" y="4754880"/>
            <a:ext cx="3200400" cy="45720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41080" y="485546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1FF72"/>
                </a:solidFill>
                <a:latin typeface="Fira Code"/>
              </a:rPr>
              <a:t>1.00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5212080"/>
            <a:ext cx="3291840" cy="45720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5312664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Longitud media (palabras)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749040" y="5212080"/>
            <a:ext cx="2194560" cy="45720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86200" y="5312664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943600" y="5212080"/>
            <a:ext cx="2560320" cy="45720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80760" y="5312664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Fira Code"/>
              </a:rPr>
              <a:t>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503920" y="5212080"/>
            <a:ext cx="3200400" cy="45720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641080" y="531266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1FF72"/>
                </a:solidFill>
                <a:latin typeface="Fira Code"/>
              </a:rPr>
              <a:t>160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A9A"/>
                </a:solidFill>
                <a:latin typeface="Fira Code"/>
              </a:rPr>
              <a:t>Completa los baselines con tus números si quieres mostrar el delta exacto.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9A9A9A"/>
                </a:solidFill>
                <a:latin typeface="Fira Code"/>
              </a:rPr>
              <a:t>PROCESAMIENTO DE DATOS · OMAR CHI · VICTOR FIGUEREDO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15600" y="6565392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1">
                <a:solidFill>
                  <a:srgbClr val="C1FF72"/>
                </a:solidFill>
                <a:latin typeface="Fira Code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RQND Pro Wide"/>
              </a:rPr>
              <a:t>VIALITYCS MX</a:t>
            </a:r>
          </a:p>
        </p:txBody>
      </p:sp>
      <p:sp>
        <p:nvSpPr>
          <p:cNvPr id="3" name="Oval 2"/>
          <p:cNvSpPr/>
          <p:nvPr/>
        </p:nvSpPr>
        <p:spPr>
          <a:xfrm>
            <a:off x="1828800" y="411480"/>
            <a:ext cx="91440" cy="91440"/>
          </a:xfrm>
          <a:prstGeom prst="ellipse">
            <a:avLst/>
          </a:prstGeom>
          <a:solidFill>
            <a:srgbClr val="C1F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1FF72"/>
                </a:solidFill>
                <a:latin typeface="Fira Code"/>
              </a:rPr>
              <a:t>09 · TRACCIÓN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24712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RQND Pro Wide"/>
              </a:rPr>
              <a:t>No es una idea: ya está construido.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39112"/>
            <a:ext cx="457200" cy="3657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3703320" cy="169164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468880"/>
            <a:ext cx="73152" cy="169164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RQND Pro Wide"/>
              </a:rPr>
              <a:t>Pipeline ETL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Fira Code"/>
              </a:rPr>
              <a:t>28 años de ATUS y VMRC, reproducible en una línea.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2468880"/>
            <a:ext cx="3703320" cy="169164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2468880"/>
            <a:ext cx="73152" cy="169164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2697480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RQND Pro Wide"/>
              </a:rPr>
              <a:t>Dataset curado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32461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Fira Code"/>
              </a:rPr>
              <a:t>425 ejemplos de entrenamiento (train · val · test).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1584" y="2468880"/>
            <a:ext cx="3703320" cy="169164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1584" y="2468880"/>
            <a:ext cx="73152" cy="169164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2697480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RQND Pro Wide"/>
              </a:rPr>
              <a:t>Modelo propio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1624" y="32461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Fira Code"/>
              </a:rPr>
              <a:t>Qwen2.5-1.5B fine-tuneado con QLoRA en Colab.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43400"/>
            <a:ext cx="3703320" cy="169164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343400"/>
            <a:ext cx="73152" cy="169164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72000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RQND Pro Wide"/>
              </a:rPr>
              <a:t>App funcional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12064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Fira Code"/>
              </a:rPr>
              <a:t>Streamlit end-to-end con el modelo cargado.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9392" y="4343400"/>
            <a:ext cx="3703320" cy="169164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79392" y="4343400"/>
            <a:ext cx="73152" cy="169164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9432" y="4572000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RQND Pro Wide"/>
              </a:rPr>
              <a:t>Documentación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9432" y="512064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Fira Code"/>
              </a:rPr>
              <a:t>Plan por etapas y notas para retomar / extender.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01584" y="4343400"/>
            <a:ext cx="3703320" cy="1691640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1584" y="4343400"/>
            <a:ext cx="73152" cy="169164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21624" y="4572000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RQND Pro Wide"/>
              </a:rPr>
              <a:t>Validación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1624" y="512064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Fira Code"/>
              </a:rPr>
              <a:t>Test set independiente con 6 métricas automáticas.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9A9A9A"/>
                </a:solidFill>
                <a:latin typeface="Fira Code"/>
              </a:rPr>
              <a:t>PROCESAMIENTO DE DATOS · OMAR CHI · VICTOR FIGUEREDO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565392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1">
                <a:solidFill>
                  <a:srgbClr val="C1FF72"/>
                </a:solidFill>
                <a:latin typeface="Fira Code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RQND Pro Wide"/>
              </a:rPr>
              <a:t>VIALITYCS MX</a:t>
            </a:r>
          </a:p>
        </p:txBody>
      </p:sp>
      <p:sp>
        <p:nvSpPr>
          <p:cNvPr id="3" name="Oval 2"/>
          <p:cNvSpPr/>
          <p:nvPr/>
        </p:nvSpPr>
        <p:spPr>
          <a:xfrm>
            <a:off x="1828800" y="411480"/>
            <a:ext cx="91440" cy="91440"/>
          </a:xfrm>
          <a:prstGeom prst="ellipse">
            <a:avLst/>
          </a:prstGeom>
          <a:solidFill>
            <a:srgbClr val="C1F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1FF72"/>
                </a:solidFill>
                <a:latin typeface="Fira Code"/>
              </a:rPr>
              <a:t>10 ·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24712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RQND Pro Wide"/>
              </a:rPr>
              <a:t>Hacia dónde va Vialitycs MX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39112"/>
            <a:ext cx="457200" cy="3657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3657600"/>
            <a:ext cx="11247120" cy="3657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55064" y="3552444"/>
            <a:ext cx="256032" cy="256032"/>
          </a:xfrm>
          <a:prstGeom prst="ellipse">
            <a:avLst/>
          </a:prstGeom>
          <a:solidFill>
            <a:srgbClr val="C1F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C1FF72"/>
                </a:solidFill>
                <a:latin typeface="RQND Pro Wide"/>
              </a:rPr>
              <a:t>HOY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14800"/>
            <a:ext cx="26517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Fira Code"/>
              </a:rPr>
              <a:t>MVP académico funcional con cobertura nacional.</a:t>
            </a:r>
          </a:p>
        </p:txBody>
      </p:sp>
      <p:sp>
        <p:nvSpPr>
          <p:cNvPr id="11" name="Oval 10"/>
          <p:cNvSpPr/>
          <p:nvPr/>
        </p:nvSpPr>
        <p:spPr>
          <a:xfrm>
            <a:off x="4520184" y="3552444"/>
            <a:ext cx="256032" cy="256032"/>
          </a:xfrm>
          <a:prstGeom prst="ellipse">
            <a:avLst/>
          </a:prstGeom>
          <a:solidFill>
            <a:srgbClr val="C1F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22320" y="26060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C1FF72"/>
                </a:solidFill>
                <a:latin typeface="RQND Pro Wide"/>
              </a:rPr>
              <a:t>Q3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2320" y="4114800"/>
            <a:ext cx="26517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Fira Code"/>
              </a:rPr>
              <a:t>Cobertura estatal en VMRC + integración DENUE.</a:t>
            </a:r>
          </a:p>
        </p:txBody>
      </p:sp>
      <p:sp>
        <p:nvSpPr>
          <p:cNvPr id="14" name="Oval 13"/>
          <p:cNvSpPr/>
          <p:nvPr/>
        </p:nvSpPr>
        <p:spPr>
          <a:xfrm>
            <a:off x="7385304" y="3552444"/>
            <a:ext cx="256032" cy="256032"/>
          </a:xfrm>
          <a:prstGeom prst="ellipse">
            <a:avLst/>
          </a:prstGeom>
          <a:solidFill>
            <a:srgbClr val="C1F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440" y="26060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C1FF72"/>
                </a:solidFill>
                <a:latin typeface="RQND Pro Wide"/>
              </a:rPr>
              <a:t>Q4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440" y="4114800"/>
            <a:ext cx="26517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Fira Code"/>
              </a:rPr>
              <a:t>Exportable a PDF · API REST · multi-usuario.</a:t>
            </a:r>
          </a:p>
        </p:txBody>
      </p:sp>
      <p:sp>
        <p:nvSpPr>
          <p:cNvPr id="17" name="Oval 16"/>
          <p:cNvSpPr/>
          <p:nvPr/>
        </p:nvSpPr>
        <p:spPr>
          <a:xfrm>
            <a:off x="10250424" y="3552444"/>
            <a:ext cx="256032" cy="256032"/>
          </a:xfrm>
          <a:prstGeom prst="ellipse">
            <a:avLst/>
          </a:prstGeom>
          <a:solidFill>
            <a:srgbClr val="C1F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0" y="26060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C1FF72"/>
                </a:solidFill>
                <a:latin typeface="RQND Pro Wide"/>
              </a:rPr>
              <a:t>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4114800"/>
            <a:ext cx="26517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Fira Code"/>
              </a:rPr>
              <a:t>Versión institucional con autenticación y SLA.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9A9A9A"/>
                </a:solidFill>
                <a:latin typeface="Fira Code"/>
              </a:rPr>
              <a:t>PROCESAMIENTO DE DATOS · OMAR CHI · VICTOR FIGUEREDO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565392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1">
                <a:solidFill>
                  <a:srgbClr val="C1FF72"/>
                </a:solidFill>
                <a:latin typeface="Fira Code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RQND Pro Wide"/>
              </a:rPr>
              <a:t>VIALITYCS MX</a:t>
            </a:r>
          </a:p>
        </p:txBody>
      </p:sp>
      <p:sp>
        <p:nvSpPr>
          <p:cNvPr id="3" name="Oval 2"/>
          <p:cNvSpPr/>
          <p:nvPr/>
        </p:nvSpPr>
        <p:spPr>
          <a:xfrm>
            <a:off x="1828800" y="411480"/>
            <a:ext cx="91440" cy="91440"/>
          </a:xfrm>
          <a:prstGeom prst="ellipse">
            <a:avLst/>
          </a:prstGeom>
          <a:solidFill>
            <a:srgbClr val="C1F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1FF72"/>
                </a:solidFill>
                <a:latin typeface="Fira Code"/>
              </a:rPr>
              <a:t>11 · TECNOLOGÍA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24712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RQND Pro Wide"/>
              </a:rPr>
              <a:t>Stack abierto, costo cero.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39112"/>
            <a:ext cx="457200" cy="3657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1FF72"/>
                </a:solidFill>
                <a:latin typeface="RQND Pro Wide"/>
              </a:rPr>
              <a:t>Componentes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08960"/>
            <a:ext cx="5303520" cy="32004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200" b="1">
                <a:solidFill>
                  <a:srgbClr val="C1FF72"/>
                </a:solidFill>
                <a:latin typeface="Fira Code"/>
              </a:rPr>
              <a:t>▍ </a:t>
            </a:r>
            <a:r>
              <a:rPr sz="1200">
                <a:solidFill>
                  <a:srgbClr val="FFFFFF"/>
                </a:solidFill>
                <a:latin typeface="Fira Code"/>
              </a:rPr>
              <a:t>Python · pandas · Streamlit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200" b="1">
                <a:solidFill>
                  <a:srgbClr val="C1FF72"/>
                </a:solidFill>
                <a:latin typeface="Fira Code"/>
              </a:rPr>
              <a:t>▍ </a:t>
            </a:r>
            <a:r>
              <a:rPr sz="1200">
                <a:solidFill>
                  <a:srgbClr val="FFFFFF"/>
                </a:solidFill>
                <a:latin typeface="Fira Code"/>
              </a:rPr>
              <a:t>Hugging Face Transformers · PEFT (LoRA)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200" b="1">
                <a:solidFill>
                  <a:srgbClr val="C1FF72"/>
                </a:solidFill>
                <a:latin typeface="Fira Code"/>
              </a:rPr>
              <a:t>▍ </a:t>
            </a:r>
            <a:r>
              <a:rPr sz="1200">
                <a:solidFill>
                  <a:srgbClr val="FFFFFF"/>
                </a:solidFill>
                <a:latin typeface="Fira Code"/>
              </a:rPr>
              <a:t>Modelo base Qwen2.5-1.5B-Instruct (Apache 2.0)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200" b="1">
                <a:solidFill>
                  <a:srgbClr val="C1FF72"/>
                </a:solidFill>
                <a:latin typeface="Fira Code"/>
              </a:rPr>
              <a:t>▍ </a:t>
            </a:r>
            <a:r>
              <a:rPr sz="1200">
                <a:solidFill>
                  <a:srgbClr val="FFFFFF"/>
                </a:solidFill>
                <a:latin typeface="Fira Code"/>
              </a:rPr>
              <a:t>Entrenamiento Google Colab T4 (gratis)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46888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1FF72"/>
                </a:solidFill>
                <a:latin typeface="RQND Pro Wide"/>
              </a:rPr>
              <a:t>Implicaciones de negocio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108960"/>
            <a:ext cx="5349240" cy="32004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200" b="1">
                <a:solidFill>
                  <a:srgbClr val="C1FF72"/>
                </a:solidFill>
                <a:latin typeface="Fira Code"/>
              </a:rPr>
              <a:t>▍ </a:t>
            </a:r>
            <a:r>
              <a:rPr sz="1200">
                <a:solidFill>
                  <a:srgbClr val="FFFFFF"/>
                </a:solidFill>
                <a:latin typeface="Fira Code"/>
              </a:rPr>
              <a:t>100% open source — sin vendor lock-in.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200" b="1">
                <a:solidFill>
                  <a:srgbClr val="C1FF72"/>
                </a:solidFill>
                <a:latin typeface="Fira Code"/>
              </a:rPr>
              <a:t>▍ </a:t>
            </a:r>
            <a:r>
              <a:rPr sz="1200">
                <a:solidFill>
                  <a:srgbClr val="FFFFFF"/>
                </a:solidFill>
                <a:latin typeface="Fira Code"/>
              </a:rPr>
              <a:t>Inferencia local en hardware modesto (RTX 3060 Ti).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200" b="1">
                <a:solidFill>
                  <a:srgbClr val="C1FF72"/>
                </a:solidFill>
                <a:latin typeface="Fira Code"/>
              </a:rPr>
              <a:t>▍ </a:t>
            </a:r>
            <a:r>
              <a:rPr sz="1200">
                <a:solidFill>
                  <a:srgbClr val="FFFFFF"/>
                </a:solidFill>
                <a:latin typeface="Fira Code"/>
              </a:rPr>
              <a:t>Sin dependencias de APIs de pago.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200" b="1">
                <a:solidFill>
                  <a:srgbClr val="C1FF72"/>
                </a:solidFill>
                <a:latin typeface="Fira Code"/>
              </a:rPr>
              <a:t>▍ </a:t>
            </a:r>
            <a:r>
              <a:rPr sz="1200">
                <a:solidFill>
                  <a:srgbClr val="FFFFFF"/>
                </a:solidFill>
                <a:latin typeface="Fira Code"/>
              </a:rPr>
              <a:t>Reproducible: pipeline + training en un comando.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9A9A9A"/>
                </a:solidFill>
                <a:latin typeface="Fira Code"/>
              </a:rPr>
              <a:t>PROCESAMIENTO DE DATOS · OMAR CHI · VICTOR FIGUEREDO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565392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1">
                <a:solidFill>
                  <a:srgbClr val="C1FF72"/>
                </a:solidFill>
                <a:latin typeface="Fira Code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1FF72"/>
                </a:solidFill>
                <a:latin typeface="RQND Pro Wide"/>
              </a:rPr>
              <a:t>VIALITYCS MX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47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RQND Pro Wide"/>
              </a:rPr>
              <a:t>Datos públicos.</a:t>
            </a:r>
          </a:p>
          <a:p>
            <a:pPr algn="l"/>
            <a:r>
              <a:rPr sz="6400" b="1">
                <a:solidFill>
                  <a:srgbClr val="FFFFFF"/>
                </a:solidFill>
                <a:latin typeface="RQND Pro Wide"/>
              </a:rPr>
              <a:t>Decisiones privadas.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206240"/>
            <a:ext cx="640080" cy="5486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C1FF72"/>
                </a:solidFill>
                <a:latin typeface="RQND Pro Wide"/>
              </a:rPr>
              <a:t>Gracias.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749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Fira Code"/>
              </a:rPr>
              <a:t>Omar Antonio Chi Bautista  ·  Victor Figueredo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40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Fira Code"/>
              </a:rPr>
              <a:t>Procesamiento de Datos · Mayo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0" y="1828800"/>
            <a:ext cx="3246120" cy="3246120"/>
          </a:xfrm>
          <a:prstGeom prst="rect">
            <a:avLst/>
          </a:prstGeom>
          <a:solidFill>
            <a:srgbClr val="121212"/>
          </a:solidFill>
          <a:ln w="15875">
            <a:solidFill>
              <a:srgbClr val="C1FF72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828800"/>
            <a:ext cx="3246120" cy="3246120"/>
          </a:xfrm>
          <a:prstGeom prst="rect">
            <a:avLst/>
          </a:prstGeom>
          <a:noFill/>
        </p:spPr>
        <p:txBody>
          <a:bodyPr wrap="square" anchor="ctr" lIns="182880" rIns="182880">
            <a:spAutoFit/>
          </a:bodyPr>
          <a:lstStyle/>
          <a:p>
            <a:pPr algn="ctr"/>
            <a:r>
              <a:rPr sz="1600" b="1">
                <a:solidFill>
                  <a:srgbClr val="C1FF72"/>
                </a:solidFill>
                <a:latin typeface="RQND Pro Wide"/>
              </a:rPr>
              <a:t>[ QR / CONTACTO ]</a:t>
            </a:r>
          </a:p>
          <a:p>
            <a:pPr algn="ctr">
              <a:spcBef>
                <a:spcPts val="600"/>
              </a:spcBef>
            </a:pPr>
            <a:r>
              <a:rPr sz="1000">
                <a:solidFill>
                  <a:srgbClr val="9A9A9A"/>
                </a:solidFill>
                <a:latin typeface="Fira Code"/>
              </a:rPr>
              <a:t>Inserta foto, código QR o enlace a repositorio.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